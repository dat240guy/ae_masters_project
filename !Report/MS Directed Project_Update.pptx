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82" r:id="rId3"/>
    <p:sldId id="283" r:id="rId4"/>
    <p:sldId id="275" r:id="rId5"/>
    <p:sldId id="276" r:id="rId6"/>
    <p:sldId id="277" r:id="rId7"/>
    <p:sldId id="278" r:id="rId8"/>
    <p:sldId id="284" r:id="rId9"/>
    <p:sldId id="279" r:id="rId10"/>
    <p:sldId id="28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777151-A2F9-4B69-9520-1F8A66695C63}">
          <p14:sldIdLst>
            <p14:sldId id="256"/>
            <p14:sldId id="282"/>
            <p14:sldId id="283"/>
          </p14:sldIdLst>
        </p14:section>
        <p14:section name="Solver Results" id="{266D2F77-A942-4AF2-9034-13E25D2741C2}">
          <p14:sldIdLst>
            <p14:sldId id="275"/>
            <p14:sldId id="276"/>
            <p14:sldId id="277"/>
            <p14:sldId id="278"/>
            <p14:sldId id="284"/>
            <p14:sldId id="279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015" autoAdjust="0"/>
  </p:normalViewPr>
  <p:slideViewPr>
    <p:cSldViewPr snapToGrid="0">
      <p:cViewPr varScale="1">
        <p:scale>
          <a:sx n="94" d="100"/>
          <a:sy n="94" d="100"/>
        </p:scale>
        <p:origin x="11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8B7B53-0CF0-414F-8B52-C98689C5A576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DA85-FC26-4579-B105-13F43DD67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34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85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21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602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9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652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80CAB-C412-5412-2137-EDB935E85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DD516-73F6-6999-540F-89443D0E8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09EAC-7A0F-B218-3735-6CE4ED14A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1734A-88B5-3A53-F482-451F2E41B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01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652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9DA85-FC26-4579-B105-13F43DD67C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16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347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0325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F5418-9A95-B4AF-6617-226D5AE4D54C}"/>
              </a:ext>
            </a:extLst>
          </p:cNvPr>
          <p:cNvSpPr/>
          <p:nvPr userDrawn="1"/>
        </p:nvSpPr>
        <p:spPr>
          <a:xfrm>
            <a:off x="1097280" y="1621766"/>
            <a:ext cx="10203324" cy="258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233577"/>
            <a:ext cx="10058400" cy="4635517"/>
          </a:xfrm>
        </p:spPr>
        <p:txBody>
          <a:bodyPr/>
          <a:lstStyle>
            <a:lvl1pPr marL="182880" indent="-168275">
              <a:buFont typeface="Calibri" panose="020F0502020204030204" pitchFamily="34" charset="0"/>
              <a:buChar char="◦"/>
              <a:defRPr lang="en-US" sz="1800" kern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C7D480-2675-D608-D4D0-9D92F68B40FA}"/>
              </a:ext>
            </a:extLst>
          </p:cNvPr>
          <p:cNvCxnSpPr/>
          <p:nvPr userDrawn="1"/>
        </p:nvCxnSpPr>
        <p:spPr>
          <a:xfrm>
            <a:off x="1094316" y="1157951"/>
            <a:ext cx="1005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562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56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60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0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6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6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96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6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F1A3C56-914D-4569-9038-3707BBD69C0B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2BD2896-820E-4243-BCB8-1914D78C05A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75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9B03-5D7A-58A7-0C9D-909F7DE3FA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 Directed </a:t>
            </a:r>
            <a:r>
              <a:rPr lang="en-US"/>
              <a:t>Project Update</a:t>
            </a:r>
            <a:r>
              <a:rPr lang="en-US" dirty="0"/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3F00AB-D716-083D-205A-0C5983FAB0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Chad Mirkovich</a:t>
            </a:r>
          </a:p>
        </p:txBody>
      </p:sp>
    </p:spTree>
    <p:extLst>
      <p:ext uri="{BB962C8B-B14F-4D97-AF65-F5344CB8AC3E}">
        <p14:creationId xmlns:p14="http://schemas.microsoft.com/office/powerpoint/2010/main" val="3124923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96370-A832-9F31-DD42-7B5560F7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Bug Found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41011-5C0F-FAFE-4D57-A75639A0B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Bug was found within the CQ6/CQ7 identification algorithm </a:t>
            </a:r>
          </a:p>
          <a:p>
            <a:r>
              <a:rPr lang="en-US" dirty="0"/>
              <a:t>CQ6 and CQ7 elements were being correctly identified and solved as CQ6 and CQ7 elements</a:t>
            </a:r>
          </a:p>
          <a:p>
            <a:r>
              <a:rPr lang="en-US" b="1" dirty="0"/>
              <a:t>However</a:t>
            </a:r>
            <a:r>
              <a:rPr lang="en-US" dirty="0"/>
              <a:t>: The newly identified CQ6 &amp; CQ7 elements were </a:t>
            </a:r>
            <a:r>
              <a:rPr lang="en-US" b="1" dirty="0"/>
              <a:t>NOT </a:t>
            </a:r>
            <a:r>
              <a:rPr lang="en-US" dirty="0"/>
              <a:t>removed from the CQ8 element list. </a:t>
            </a:r>
          </a:p>
          <a:p>
            <a:pPr lvl="1"/>
            <a:r>
              <a:rPr lang="en-US" dirty="0"/>
              <a:t>This meant that there was a CQ6 or CQ7 element with a duplicate CQ8 on top of the CQ6/CQ7 element</a:t>
            </a:r>
          </a:p>
          <a:p>
            <a:pPr lvl="1"/>
            <a:r>
              <a:rPr lang="en-US" dirty="0"/>
              <a:t>This duplicate element was the source of the stress discontinuities </a:t>
            </a:r>
          </a:p>
          <a:p>
            <a:r>
              <a:rPr lang="en-US" dirty="0"/>
              <a:t>Fixing this bug shows the CQ8 models now converging sooner than CQ4 element model as expected</a:t>
            </a:r>
          </a:p>
        </p:txBody>
      </p:sp>
    </p:spTree>
    <p:extLst>
      <p:ext uri="{BB962C8B-B14F-4D97-AF65-F5344CB8AC3E}">
        <p14:creationId xmlns:p14="http://schemas.microsoft.com/office/powerpoint/2010/main" val="172366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266BE-F916-8DAD-5F0E-A874FFCBA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Mixed CQ4 and CQ8 Plate With CQ7 Transition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546D09-B254-B7B9-F165-F6370D94D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81"/>
          <a:stretch>
            <a:fillRect/>
          </a:stretch>
        </p:blipFill>
        <p:spPr>
          <a:xfrm>
            <a:off x="0" y="1233577"/>
            <a:ext cx="5884625" cy="49148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2A1B912-62C9-7810-C7CE-62671DCA5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887" y="1347698"/>
            <a:ext cx="5857875" cy="427672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847CA55-7FB5-438D-55D0-3C5D88A54F19}"/>
              </a:ext>
            </a:extLst>
          </p:cNvPr>
          <p:cNvSpPr/>
          <p:nvPr/>
        </p:nvSpPr>
        <p:spPr>
          <a:xfrm>
            <a:off x="6429983" y="5729591"/>
            <a:ext cx="4241260" cy="8418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Constant tensile stress as expected</a:t>
            </a:r>
          </a:p>
        </p:txBody>
      </p:sp>
    </p:spTree>
    <p:extLst>
      <p:ext uri="{BB962C8B-B14F-4D97-AF65-F5344CB8AC3E}">
        <p14:creationId xmlns:p14="http://schemas.microsoft.com/office/powerpoint/2010/main" val="1811701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82F46-F448-EB96-4B9E-3E182EB7C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Concentration Determination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E53B9-BA4E-6F9D-0BD2-BB4DC89C7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292217"/>
            <a:ext cx="10058400" cy="4635517"/>
          </a:xfrm>
        </p:spPr>
        <p:txBody>
          <a:bodyPr/>
          <a:lstStyle/>
          <a:p>
            <a:r>
              <a:rPr lang="en-US" dirty="0"/>
              <a:t>DFEM Setup</a:t>
            </a:r>
          </a:p>
        </p:txBody>
      </p:sp>
      <p:pic>
        <p:nvPicPr>
          <p:cNvPr id="5" name="Picture 4" descr="A white grid with red dots&#10;&#10;AI-generated content may be incorrect.">
            <a:extLst>
              <a:ext uri="{FF2B5EF4-FFF2-40B4-BE49-F238E27FC236}">
                <a16:creationId xmlns:a16="http://schemas.microsoft.com/office/drawing/2014/main" id="{F2987935-4196-4DBA-8378-C02FB4E4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1967247"/>
            <a:ext cx="6879459" cy="43078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Picture 3" descr="A blueprint of a building&#10;&#10;AI-generated content may be incorrect.">
            <a:extLst>
              <a:ext uri="{FF2B5EF4-FFF2-40B4-BE49-F238E27FC236}">
                <a16:creationId xmlns:a16="http://schemas.microsoft.com/office/drawing/2014/main" id="{2C26268E-E5A4-0DCE-AF86-5D47EEB97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5582" y="1397017"/>
            <a:ext cx="7740905" cy="18510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2E44B7-10CC-F10E-ECC4-DC4BCD2DD4EF}"/>
              </a:ext>
            </a:extLst>
          </p:cNvPr>
          <p:cNvSpPr/>
          <p:nvPr/>
        </p:nvSpPr>
        <p:spPr>
          <a:xfrm>
            <a:off x="7629525" y="5581650"/>
            <a:ext cx="2190750" cy="5513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Free Nodes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D9FDEE-5975-CBA9-BC73-62BEDDD760E0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6238875" y="5229225"/>
            <a:ext cx="1390650" cy="628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918714-AF5A-BB3B-704D-56F610EEA9B0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6238875" y="4838700"/>
            <a:ext cx="1390650" cy="1018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C98CAC3-1909-0414-278C-BAE0136E70B9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5934075" y="5448300"/>
            <a:ext cx="1695450" cy="409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713E48-7605-D452-F29A-4A9232476923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5372100" y="5448300"/>
            <a:ext cx="2257425" cy="409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3E3B5A6-2FDD-3220-C5F5-83E2179AD8AB}"/>
              </a:ext>
            </a:extLst>
          </p:cNvPr>
          <p:cNvSpPr/>
          <p:nvPr/>
        </p:nvSpPr>
        <p:spPr>
          <a:xfrm>
            <a:off x="8402542" y="2785542"/>
            <a:ext cx="2835466" cy="15451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DUPLICATE CQ8 &amp; CQ6/7 Elements WAS PRESENT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03B021-9C09-D0D5-7F5B-659D2A26ECF7}"/>
              </a:ext>
            </a:extLst>
          </p:cNvPr>
          <p:cNvCxnSpPr>
            <a:stCxn id="7" idx="1"/>
          </p:cNvCxnSpPr>
          <p:nvPr/>
        </p:nvCxnSpPr>
        <p:spPr>
          <a:xfrm flipH="1">
            <a:off x="6029325" y="3558114"/>
            <a:ext cx="2373217" cy="1137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04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951C-9E70-30E9-A429-55D78CF5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DFEM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B3BEF-4DFD-F0FC-895B-01DBEBAC7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close-up of a grid&#10;&#10;AI-generated content may be incorrect.">
            <a:extLst>
              <a:ext uri="{FF2B5EF4-FFF2-40B4-BE49-F238E27FC236}">
                <a16:creationId xmlns:a16="http://schemas.microsoft.com/office/drawing/2014/main" id="{E076ECB2-4868-1C12-ADCD-EBC68AE60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33576"/>
            <a:ext cx="10073334" cy="2081123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1FFF9FF-80C2-10AF-CAD0-9F7885B4E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79" y="3543302"/>
            <a:ext cx="10062051" cy="2081121"/>
          </a:xfrm>
          <a:prstGeom prst="rect">
            <a:avLst/>
          </a:prstGeom>
          <a:ln>
            <a:solidFill>
              <a:srgbClr val="EE0000"/>
            </a:solidFill>
          </a:ln>
        </p:spPr>
      </p:pic>
    </p:spTree>
    <p:extLst>
      <p:ext uri="{BB962C8B-B14F-4D97-AF65-F5344CB8AC3E}">
        <p14:creationId xmlns:p14="http://schemas.microsoft.com/office/powerpoint/2010/main" val="4204389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F5CE-BDDE-97DD-A0A9-4737D159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CQ4 Stress Convergence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6530C48-3DB2-D264-1EF5-C0D0D19FC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546557"/>
              </p:ext>
            </p:extLst>
          </p:nvPr>
        </p:nvGraphicFramePr>
        <p:xfrm>
          <a:off x="7038976" y="1550238"/>
          <a:ext cx="4991099" cy="33837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1298">
                  <a:extLst>
                    <a:ext uri="{9D8B030D-6E8A-4147-A177-3AD203B41FA5}">
                      <a16:colId xmlns:a16="http://schemas.microsoft.com/office/drawing/2014/main" val="3135834026"/>
                    </a:ext>
                  </a:extLst>
                </a:gridCol>
                <a:gridCol w="810448">
                  <a:extLst>
                    <a:ext uri="{9D8B030D-6E8A-4147-A177-3AD203B41FA5}">
                      <a16:colId xmlns:a16="http://schemas.microsoft.com/office/drawing/2014/main" val="1978377003"/>
                    </a:ext>
                  </a:extLst>
                </a:gridCol>
                <a:gridCol w="809597">
                  <a:extLst>
                    <a:ext uri="{9D8B030D-6E8A-4147-A177-3AD203B41FA5}">
                      <a16:colId xmlns:a16="http://schemas.microsoft.com/office/drawing/2014/main" val="2958248818"/>
                    </a:ext>
                  </a:extLst>
                </a:gridCol>
                <a:gridCol w="809597">
                  <a:extLst>
                    <a:ext uri="{9D8B030D-6E8A-4147-A177-3AD203B41FA5}">
                      <a16:colId xmlns:a16="http://schemas.microsoft.com/office/drawing/2014/main" val="721689791"/>
                    </a:ext>
                  </a:extLst>
                </a:gridCol>
                <a:gridCol w="809597">
                  <a:extLst>
                    <a:ext uri="{9D8B030D-6E8A-4147-A177-3AD203B41FA5}">
                      <a16:colId xmlns:a16="http://schemas.microsoft.com/office/drawing/2014/main" val="15265111"/>
                    </a:ext>
                  </a:extLst>
                </a:gridCol>
                <a:gridCol w="940562">
                  <a:extLst>
                    <a:ext uri="{9D8B030D-6E8A-4147-A177-3AD203B41FA5}">
                      <a16:colId xmlns:a16="http://schemas.microsoft.com/office/drawing/2014/main" val="278104699"/>
                    </a:ext>
                  </a:extLst>
                </a:gridCol>
              </a:tblGrid>
              <a:tr h="564735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Model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Element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NID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S_max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S_min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% Difference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231947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CQ4_4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4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10456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1468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2170216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CQ4_7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493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547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11103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2361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5.8%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3976942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CQ4_10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969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960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11128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1966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0.2%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5179737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CQ4_13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1544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1468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11191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2280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0.6%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8784308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CQ4_16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2161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2021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11254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1835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0.6%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5969458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CQ4_18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3740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3429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11270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1863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0.1%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35613794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CQ4_22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11701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9515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11300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1533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0.3%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8095357"/>
                  </a:ext>
                </a:extLst>
              </a:tr>
              <a:tr h="35237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CQ4_28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13941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13338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11287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1565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-0.1%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86195997"/>
                  </a:ext>
                </a:extLst>
              </a:tr>
            </a:tbl>
          </a:graphicData>
        </a:graphic>
      </p:graphicFrame>
      <p:pic>
        <p:nvPicPr>
          <p:cNvPr id="4" name="Picture 3" descr="A graph of a stress convergence&#10;&#10;AI-generated content may be incorrect.">
            <a:extLst>
              <a:ext uri="{FF2B5EF4-FFF2-40B4-BE49-F238E27FC236}">
                <a16:creationId xmlns:a16="http://schemas.microsoft.com/office/drawing/2014/main" id="{8A02D22A-0F99-8C45-2D83-AC3E3CB3A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1550238"/>
            <a:ext cx="6537454" cy="375752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A74351-8A37-C0F3-576B-B36F6D2B524A}"/>
              </a:ext>
            </a:extLst>
          </p:cNvPr>
          <p:cNvSpPr/>
          <p:nvPr/>
        </p:nvSpPr>
        <p:spPr>
          <a:xfrm>
            <a:off x="1999297" y="5572125"/>
            <a:ext cx="8193405" cy="542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Unchanged</a:t>
            </a:r>
          </a:p>
        </p:txBody>
      </p:sp>
    </p:spTree>
    <p:extLst>
      <p:ext uri="{BB962C8B-B14F-4D97-AF65-F5344CB8AC3E}">
        <p14:creationId xmlns:p14="http://schemas.microsoft.com/office/powerpoint/2010/main" val="558452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40875-CAEF-99EC-1549-DE07CB75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CQ8 Stress Convergence</a:t>
            </a:r>
          </a:p>
        </p:txBody>
      </p:sp>
      <p:pic>
        <p:nvPicPr>
          <p:cNvPr id="4" name="Picture 3" descr="A graph of a stress convergence&#10;&#10;AI-generated content may be incorrect.">
            <a:extLst>
              <a:ext uri="{FF2B5EF4-FFF2-40B4-BE49-F238E27FC236}">
                <a16:creationId xmlns:a16="http://schemas.microsoft.com/office/drawing/2014/main" id="{41A80655-B1AD-3B65-54C1-3FF88777F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664460"/>
            <a:ext cx="5903795" cy="3393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992629-D9B6-9BF9-3A87-75CB5CFCF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440" y="1664460"/>
            <a:ext cx="5898560" cy="339331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69ACA7-C926-F751-589D-D9EE8C78E700}"/>
              </a:ext>
            </a:extLst>
          </p:cNvPr>
          <p:cNvSpPr/>
          <p:nvPr/>
        </p:nvSpPr>
        <p:spPr>
          <a:xfrm>
            <a:off x="1298833" y="5363845"/>
            <a:ext cx="3591878" cy="542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88D4D0-4B2F-BEB3-87B2-E508D24869BB}"/>
              </a:ext>
            </a:extLst>
          </p:cNvPr>
          <p:cNvSpPr/>
          <p:nvPr/>
        </p:nvSpPr>
        <p:spPr>
          <a:xfrm>
            <a:off x="7563802" y="5317490"/>
            <a:ext cx="3591878" cy="542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</a:t>
            </a:r>
          </a:p>
        </p:txBody>
      </p:sp>
    </p:spTree>
    <p:extLst>
      <p:ext uri="{BB962C8B-B14F-4D97-AF65-F5344CB8AC3E}">
        <p14:creationId xmlns:p14="http://schemas.microsoft.com/office/powerpoint/2010/main" val="145770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F6A34-FCA7-C8D5-97C8-ADF6EC70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A745-3E54-2796-211B-A08EE62DC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CQ8 Stress Convergence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674F33D-2655-A861-7406-976DC1775F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37832"/>
              </p:ext>
            </p:extLst>
          </p:nvPr>
        </p:nvGraphicFramePr>
        <p:xfrm>
          <a:off x="262889" y="1871749"/>
          <a:ext cx="5194936" cy="35774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44863">
                  <a:extLst>
                    <a:ext uri="{9D8B030D-6E8A-4147-A177-3AD203B41FA5}">
                      <a16:colId xmlns:a16="http://schemas.microsoft.com/office/drawing/2014/main" val="1800173848"/>
                    </a:ext>
                  </a:extLst>
                </a:gridCol>
                <a:gridCol w="843978">
                  <a:extLst>
                    <a:ext uri="{9D8B030D-6E8A-4147-A177-3AD203B41FA5}">
                      <a16:colId xmlns:a16="http://schemas.microsoft.com/office/drawing/2014/main" val="2370068621"/>
                    </a:ext>
                  </a:extLst>
                </a:gridCol>
                <a:gridCol w="843978">
                  <a:extLst>
                    <a:ext uri="{9D8B030D-6E8A-4147-A177-3AD203B41FA5}">
                      <a16:colId xmlns:a16="http://schemas.microsoft.com/office/drawing/2014/main" val="605767325"/>
                    </a:ext>
                  </a:extLst>
                </a:gridCol>
                <a:gridCol w="843978">
                  <a:extLst>
                    <a:ext uri="{9D8B030D-6E8A-4147-A177-3AD203B41FA5}">
                      <a16:colId xmlns:a16="http://schemas.microsoft.com/office/drawing/2014/main" val="788610164"/>
                    </a:ext>
                  </a:extLst>
                </a:gridCol>
                <a:gridCol w="843978">
                  <a:extLst>
                    <a:ext uri="{9D8B030D-6E8A-4147-A177-3AD203B41FA5}">
                      <a16:colId xmlns:a16="http://schemas.microsoft.com/office/drawing/2014/main" val="315589458"/>
                    </a:ext>
                  </a:extLst>
                </a:gridCol>
                <a:gridCol w="974161">
                  <a:extLst>
                    <a:ext uri="{9D8B030D-6E8A-4147-A177-3AD203B41FA5}">
                      <a16:colId xmlns:a16="http://schemas.microsoft.com/office/drawing/2014/main" val="1657389788"/>
                    </a:ext>
                  </a:extLst>
                </a:gridCol>
              </a:tblGrid>
              <a:tr h="58858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Model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Element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NID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S_max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 err="1">
                          <a:effectLst/>
                        </a:rPr>
                        <a:t>S_min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% Difference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29224270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CQ8_4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999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10536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1695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000">
                        <a:effectLst/>
                        <a:latin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03130612"/>
                  </a:ext>
                </a:extLst>
              </a:tr>
              <a:tr h="41810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CQ8_7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1481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547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10738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1066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1.9%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7193612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CQ8_10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2146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961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10661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1257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-0.7%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9280032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CQ8_13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2754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1468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10676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945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0.1%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7441065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CQ8_16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3718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2021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10744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626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0.6%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3775362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CQ8_18</a:t>
                      </a:r>
                      <a:endParaRPr lang="en-US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4875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3429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10819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780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0.7%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336353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CQ8_22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9851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9515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10853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544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0.3%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3559909"/>
                  </a:ext>
                </a:extLst>
              </a:tr>
              <a:tr h="36725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CQ8_28</a:t>
                      </a:r>
                      <a:endParaRPr lang="en-US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11966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14589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11483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2381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5.5%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86650673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AC1E48-FFC1-AA5D-5A34-C52BCAB01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3311268"/>
              </p:ext>
            </p:extLst>
          </p:nvPr>
        </p:nvGraphicFramePr>
        <p:xfrm>
          <a:off x="5905498" y="1871745"/>
          <a:ext cx="4914902" cy="35774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1999">
                  <a:extLst>
                    <a:ext uri="{9D8B030D-6E8A-4147-A177-3AD203B41FA5}">
                      <a16:colId xmlns:a16="http://schemas.microsoft.com/office/drawing/2014/main" val="3532695515"/>
                    </a:ext>
                  </a:extLst>
                </a:gridCol>
                <a:gridCol w="821999">
                  <a:extLst>
                    <a:ext uri="{9D8B030D-6E8A-4147-A177-3AD203B41FA5}">
                      <a16:colId xmlns:a16="http://schemas.microsoft.com/office/drawing/2014/main" val="1197357977"/>
                    </a:ext>
                  </a:extLst>
                </a:gridCol>
                <a:gridCol w="804907">
                  <a:extLst>
                    <a:ext uri="{9D8B030D-6E8A-4147-A177-3AD203B41FA5}">
                      <a16:colId xmlns:a16="http://schemas.microsoft.com/office/drawing/2014/main" val="1252784131"/>
                    </a:ext>
                  </a:extLst>
                </a:gridCol>
                <a:gridCol w="821999">
                  <a:extLst>
                    <a:ext uri="{9D8B030D-6E8A-4147-A177-3AD203B41FA5}">
                      <a16:colId xmlns:a16="http://schemas.microsoft.com/office/drawing/2014/main" val="1892318965"/>
                    </a:ext>
                  </a:extLst>
                </a:gridCol>
                <a:gridCol w="665551">
                  <a:extLst>
                    <a:ext uri="{9D8B030D-6E8A-4147-A177-3AD203B41FA5}">
                      <a16:colId xmlns:a16="http://schemas.microsoft.com/office/drawing/2014/main" val="187547010"/>
                    </a:ext>
                  </a:extLst>
                </a:gridCol>
                <a:gridCol w="978447">
                  <a:extLst>
                    <a:ext uri="{9D8B030D-6E8A-4147-A177-3AD203B41FA5}">
                      <a16:colId xmlns:a16="http://schemas.microsoft.com/office/drawing/2014/main" val="2209075881"/>
                    </a:ext>
                  </a:extLst>
                </a:gridCol>
              </a:tblGrid>
              <a:tr h="67603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Modelz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Element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NID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S_max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S_min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% Difference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25832711"/>
                  </a:ext>
                </a:extLst>
              </a:tr>
              <a:tr h="3626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CQ8_4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999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10935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1762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5883664"/>
                  </a:ext>
                </a:extLst>
              </a:tr>
              <a:tr h="3626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CQ8_7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1481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547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11234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1122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2.7%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6481307"/>
                  </a:ext>
                </a:extLst>
              </a:tr>
              <a:tr h="3626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CQ8_10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2146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961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11061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1304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-1.6%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5200600"/>
                  </a:ext>
                </a:extLst>
              </a:tr>
              <a:tr h="3626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CQ8_13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2754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1468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11139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987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0.7%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46804966"/>
                  </a:ext>
                </a:extLst>
              </a:tr>
              <a:tr h="3626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CQ8_16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3718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2021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11076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646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-0.6%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38184823"/>
                  </a:ext>
                </a:extLst>
              </a:tr>
              <a:tr h="3626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CQ8_18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4875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3429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11068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798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-0.1%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54917277"/>
                  </a:ext>
                </a:extLst>
              </a:tr>
              <a:tr h="3626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CQ8_22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9851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9515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11073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555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0.0%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2787390"/>
                  </a:ext>
                </a:extLst>
              </a:tr>
              <a:tr h="3626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CQ8_28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11701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13338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11067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587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-0.1%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350702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D285F19-C275-DBBA-AAFD-7DFDD18C4631}"/>
              </a:ext>
            </a:extLst>
          </p:cNvPr>
          <p:cNvSpPr/>
          <p:nvPr/>
        </p:nvSpPr>
        <p:spPr>
          <a:xfrm>
            <a:off x="432058" y="5573395"/>
            <a:ext cx="3591878" cy="542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B4B630-BEDB-7B91-1B1E-CCC3A08E9F7F}"/>
              </a:ext>
            </a:extLst>
          </p:cNvPr>
          <p:cNvSpPr/>
          <p:nvPr/>
        </p:nvSpPr>
        <p:spPr>
          <a:xfrm>
            <a:off x="6697027" y="5527040"/>
            <a:ext cx="3591878" cy="5429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820307-C38F-2D0E-2AE1-9443D35C1281}"/>
              </a:ext>
            </a:extLst>
          </p:cNvPr>
          <p:cNvSpPr/>
          <p:nvPr/>
        </p:nvSpPr>
        <p:spPr>
          <a:xfrm>
            <a:off x="10820400" y="2649220"/>
            <a:ext cx="1292066" cy="2399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Converging on a much closer value to that of the CQ4 Model</a:t>
            </a:r>
          </a:p>
        </p:txBody>
      </p:sp>
    </p:spTree>
    <p:extLst>
      <p:ext uri="{BB962C8B-B14F-4D97-AF65-F5344CB8AC3E}">
        <p14:creationId xmlns:p14="http://schemas.microsoft.com/office/powerpoint/2010/main" val="1157488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37A4-6C96-9E36-81F9-2999B75D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Plot Comparison</a:t>
            </a: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D4D6E3D0-DD73-C44F-020C-9DD9C34E7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9" y="1233576"/>
            <a:ext cx="6251235" cy="24136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FC1D7E-40EB-767F-0EC6-7A4E91662059}"/>
              </a:ext>
            </a:extLst>
          </p:cNvPr>
          <p:cNvSpPr/>
          <p:nvPr/>
        </p:nvSpPr>
        <p:spPr>
          <a:xfrm>
            <a:off x="4276724" y="1628776"/>
            <a:ext cx="1057275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CQ4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74A5E6-3116-890A-315A-D127A022A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49" y="3762994"/>
            <a:ext cx="6264667" cy="22527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E7CEC6-5D5C-450E-A019-968E769E564C}"/>
              </a:ext>
            </a:extLst>
          </p:cNvPr>
          <p:cNvSpPr/>
          <p:nvPr/>
        </p:nvSpPr>
        <p:spPr>
          <a:xfrm>
            <a:off x="3495675" y="4174994"/>
            <a:ext cx="1919287" cy="6351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CQ8/7/6</a:t>
            </a:r>
          </a:p>
          <a:p>
            <a:pPr algn="ctr"/>
            <a:r>
              <a:rPr lang="en-US" b="1" dirty="0"/>
              <a:t>WAS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4544C1-463B-C777-D768-5B92DC3869EB}"/>
              </a:ext>
            </a:extLst>
          </p:cNvPr>
          <p:cNvSpPr/>
          <p:nvPr/>
        </p:nvSpPr>
        <p:spPr>
          <a:xfrm>
            <a:off x="790575" y="5000624"/>
            <a:ext cx="1438275" cy="6237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Discontinuities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91920A-6E94-5D6C-2205-9F109759DD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477"/>
          <a:stretch>
            <a:fillRect/>
          </a:stretch>
        </p:blipFill>
        <p:spPr>
          <a:xfrm>
            <a:off x="6706529" y="1408210"/>
            <a:ext cx="5275922" cy="428625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0A1BE5-E04F-B49B-D114-8230BD49F875}"/>
              </a:ext>
            </a:extLst>
          </p:cNvPr>
          <p:cNvCxnSpPr>
            <a:stCxn id="5" idx="3"/>
          </p:cNvCxnSpPr>
          <p:nvPr/>
        </p:nvCxnSpPr>
        <p:spPr>
          <a:xfrm flipV="1">
            <a:off x="2228850" y="5200650"/>
            <a:ext cx="1106316" cy="1118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DCE017D-EE26-0ECF-AD17-C438C3D9E016}"/>
              </a:ext>
            </a:extLst>
          </p:cNvPr>
          <p:cNvSpPr/>
          <p:nvPr/>
        </p:nvSpPr>
        <p:spPr>
          <a:xfrm>
            <a:off x="7361947" y="4552949"/>
            <a:ext cx="1438275" cy="6237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 Discontinuities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ABBDED-4038-3D9E-9E39-E12C8EE8D5F7}"/>
              </a:ext>
            </a:extLst>
          </p:cNvPr>
          <p:cNvSpPr/>
          <p:nvPr/>
        </p:nvSpPr>
        <p:spPr>
          <a:xfrm>
            <a:off x="8680584" y="2122845"/>
            <a:ext cx="1919287" cy="6351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CQ8/7/6</a:t>
            </a:r>
          </a:p>
          <a:p>
            <a:pPr algn="ctr"/>
            <a:r>
              <a:rPr lang="en-US" b="1" dirty="0"/>
              <a:t>IS</a:t>
            </a:r>
          </a:p>
        </p:txBody>
      </p:sp>
    </p:spTree>
    <p:extLst>
      <p:ext uri="{BB962C8B-B14F-4D97-AF65-F5344CB8AC3E}">
        <p14:creationId xmlns:p14="http://schemas.microsoft.com/office/powerpoint/2010/main" val="59307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77D9-EBC2-6FB4-F95A-C6E09A68D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A4360-F92F-FD46-C5B6-F6C20F671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Python FEM solver accurately computed displacements, strains, and stresses for CTRIA3, CQUAD4, CQUAD8, and transition CQUAD6/7 elements</a:t>
            </a:r>
          </a:p>
          <a:p>
            <a:r>
              <a:rPr lang="en-US" dirty="0"/>
              <a:t>CQ4 meshes converged reliably, while CQ8 meshes failed to converge, likely due to transition-zone distortion and abrupt mesh-quality changes</a:t>
            </a:r>
          </a:p>
          <a:p>
            <a:r>
              <a:rPr lang="en-US" dirty="0"/>
              <a:t>CQ8 elements introduced extra DOFs and computational cost without improving accuracy or convergence speed</a:t>
            </a:r>
          </a:p>
          <a:p>
            <a:r>
              <a:rPr lang="en-US" dirty="0"/>
              <a:t>Transition regions (CQ6/CQ7) caused stress peaking and distortion, reducing CQ8 effectiveness</a:t>
            </a:r>
          </a:p>
          <a:p>
            <a:r>
              <a:rPr lang="en-US" dirty="0"/>
              <a:t>Recommendation: use CQ4 refinement; CQ8 with transition elements do not offer a practical advantage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737893-55F5-63A7-E9E0-42E55A92B7D3}"/>
              </a:ext>
            </a:extLst>
          </p:cNvPr>
          <p:cNvSpPr/>
          <p:nvPr/>
        </p:nvSpPr>
        <p:spPr>
          <a:xfrm>
            <a:off x="1390650" y="4248149"/>
            <a:ext cx="9258300" cy="1209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CQ8 model does converge sooner than the CQ4 model as expected!</a:t>
            </a:r>
          </a:p>
        </p:txBody>
      </p:sp>
    </p:spTree>
    <p:extLst>
      <p:ext uri="{BB962C8B-B14F-4D97-AF65-F5344CB8AC3E}">
        <p14:creationId xmlns:p14="http://schemas.microsoft.com/office/powerpoint/2010/main" val="3082233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5000</TotalTime>
  <Words>478</Words>
  <Application>Microsoft Office PowerPoint</Application>
  <PresentationFormat>Widescreen</PresentationFormat>
  <Paragraphs>207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Narrow</vt:lpstr>
      <vt:lpstr>Calibri</vt:lpstr>
      <vt:lpstr>Calibri Light</vt:lpstr>
      <vt:lpstr>Cambria</vt:lpstr>
      <vt:lpstr>Retrospect</vt:lpstr>
      <vt:lpstr>MS Directed Project Update </vt:lpstr>
      <vt:lpstr>Bug Found</vt:lpstr>
      <vt:lpstr>Mixed CQ4 and CQ8 Plate With CQ7 Transition</vt:lpstr>
      <vt:lpstr>Stress Concentration Determination</vt:lpstr>
      <vt:lpstr>DFEM Refinement</vt:lpstr>
      <vt:lpstr>CQ4 Stress Convergence</vt:lpstr>
      <vt:lpstr>CQ8 Stress Convergence</vt:lpstr>
      <vt:lpstr>CQ8 Stress Convergence</vt:lpstr>
      <vt:lpstr>Stress Plot Comparison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Chad Mirkovich</dc:creator>
  <cp:lastModifiedBy>Chad Mirkovich</cp:lastModifiedBy>
  <cp:revision>20</cp:revision>
  <dcterms:created xsi:type="dcterms:W3CDTF">2025-11-28T22:16:12Z</dcterms:created>
  <dcterms:modified xsi:type="dcterms:W3CDTF">2025-12-06T02:19:57Z</dcterms:modified>
</cp:coreProperties>
</file>