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777151-A2F9-4B69-9520-1F8A66695C63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Solver Derivation" id="{BB2E43C0-81E0-4882-9B9B-5BC52930DF29}">
          <p14:sldIdLst>
            <p14:sldId id="262"/>
            <p14:sldId id="263"/>
            <p14:sldId id="264"/>
            <p14:sldId id="265"/>
            <p14:sldId id="267"/>
            <p14:sldId id="266"/>
            <p14:sldId id="268"/>
            <p14:sldId id="269"/>
          </p14:sldIdLst>
        </p14:section>
        <p14:section name="Element Equations" id="{6AD47393-B82E-4B89-A5DA-B5D83072853F}">
          <p14:sldIdLst>
            <p14:sldId id="270"/>
            <p14:sldId id="271"/>
            <p14:sldId id="272"/>
            <p14:sldId id="273"/>
          </p14:sldIdLst>
        </p14:section>
        <p14:section name="Solver Results" id="{266D2F77-A942-4AF2-9034-13E25D2741C2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341" autoAdjust="0"/>
  </p:normalViewPr>
  <p:slideViewPr>
    <p:cSldViewPr snapToGrid="0">
      <p:cViewPr varScale="1">
        <p:scale>
          <a:sx n="100" d="100"/>
          <a:sy n="100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B7B53-0CF0-414F-8B52-C98689C5A57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DA85-FC26-4579-B105-13F43DD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3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85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15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perterson’s</a:t>
            </a:r>
            <a:r>
              <a:rPr lang="en-US" dirty="0"/>
              <a:t> can not capture the Kt,</a:t>
            </a:r>
          </a:p>
          <a:p>
            <a:r>
              <a:rPr lang="en-US" dirty="0"/>
              <a:t>Does the FEM Capture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68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a break out FEM solver comes in</a:t>
            </a:r>
          </a:p>
          <a:p>
            <a:endParaRPr lang="en-US" dirty="0"/>
          </a:p>
          <a:p>
            <a:r>
              <a:rPr lang="en-US" dirty="0"/>
              <a:t>Refining and solving local, critical details from the DFEM/AVFEM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87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done by internal stresses while deforming or straining the 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96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 work = 0 establishes equilibrium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47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Integrate over the volume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SLOW 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01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the multi variable chain rule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59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order</a:t>
            </a:r>
          </a:p>
          <a:p>
            <a:endParaRPr lang="en-US" dirty="0"/>
          </a:p>
          <a:p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29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Biliner, </a:t>
                </a:r>
                <a:r>
                  <a:rPr lang="en-US" dirty="0" err="1"/>
                  <a:t>ie</a:t>
                </a:r>
                <a:r>
                  <a:rPr lang="en-US" dirty="0"/>
                  <a:t> linear in each direction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Biliner, </a:t>
                </a:r>
                <a:r>
                  <a:rPr lang="en-US" dirty="0" err="1"/>
                  <a:t>ie</a:t>
                </a:r>
                <a:r>
                  <a:rPr lang="en-US" dirty="0"/>
                  <a:t> linear in each direction </a:t>
                </a:r>
                <a:r>
                  <a:rPr lang="en-US" b="0" i="0">
                    <a:latin typeface="Cambria Math" panose="02040503050406030204" pitchFamily="18" charset="0"/>
                  </a:rPr>
                  <a:t>𝜉, 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84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evaluated at the free edges the shape functions are linear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19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solver </a:t>
            </a:r>
          </a:p>
          <a:p>
            <a:r>
              <a:rPr lang="en-US" dirty="0"/>
              <a:t>CQ4 1.9% error</a:t>
            </a:r>
          </a:p>
          <a:p>
            <a:r>
              <a:rPr lang="en-US" dirty="0"/>
              <a:t>CQ8 1.8%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16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Constraints!! Loading!!</a:t>
            </a:r>
            <a:br>
              <a:rPr lang="en-US" dirty="0"/>
            </a:br>
            <a:r>
              <a:rPr lang="en-US" dirty="0"/>
              <a:t>Free nodes are left in </a:t>
            </a:r>
            <a:r>
              <a:rPr lang="en-US" dirty="0" err="1"/>
              <a:t>femap</a:t>
            </a:r>
            <a:r>
              <a:rPr lang="en-US" dirty="0"/>
              <a:t> and </a:t>
            </a:r>
            <a:r>
              <a:rPr lang="en-US" dirty="0" err="1"/>
              <a:t>dat</a:t>
            </a:r>
            <a:r>
              <a:rPr lang="en-US" dirty="0"/>
              <a:t> file</a:t>
            </a:r>
          </a:p>
          <a:p>
            <a:r>
              <a:rPr lang="en-US" dirty="0"/>
              <a:t>Python solver sees the number of free nodes and determines the CQ7 and CQ6 elements</a:t>
            </a:r>
          </a:p>
          <a:p>
            <a:r>
              <a:rPr lang="en-US" dirty="0"/>
              <a:t>As seen </a:t>
            </a:r>
            <a:r>
              <a:rPr lang="en-US" dirty="0" err="1"/>
              <a:t>femap</a:t>
            </a:r>
            <a:r>
              <a:rPr lang="en-US" dirty="0"/>
              <a:t> does not have non-straight CQ8 edges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21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same surrounding meshes were used</a:t>
            </a:r>
          </a:p>
          <a:p>
            <a:r>
              <a:rPr lang="en-US" dirty="0"/>
              <a:t>Each mesh had the same element sizes</a:t>
            </a:r>
          </a:p>
          <a:p>
            <a:r>
              <a:rPr lang="en-US" dirty="0"/>
              <a:t>Only difference is mid-side nodes and transition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02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convergence at CQ4_16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9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Stresses did not converge within the same frame as CQ4 solution, stresses generally under that of CQ4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52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discontinuous stress contour around the boundary of the mesh transition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52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347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0325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F5418-9A95-B4AF-6617-226D5AE4D54C}"/>
              </a:ext>
            </a:extLst>
          </p:cNvPr>
          <p:cNvSpPr/>
          <p:nvPr userDrawn="1"/>
        </p:nvSpPr>
        <p:spPr>
          <a:xfrm>
            <a:off x="1097280" y="1621766"/>
            <a:ext cx="10203324" cy="258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233577"/>
            <a:ext cx="10058400" cy="4635517"/>
          </a:xfrm>
        </p:spPr>
        <p:txBody>
          <a:bodyPr/>
          <a:lstStyle>
            <a:lvl1pPr marL="182880" indent="-168275">
              <a:buFont typeface="Calibri" panose="020F0502020204030204" pitchFamily="34" charset="0"/>
              <a:buChar char="◦"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C7D480-2675-D608-D4D0-9D92F68B40FA}"/>
              </a:ext>
            </a:extLst>
          </p:cNvPr>
          <p:cNvCxnSpPr/>
          <p:nvPr userDrawn="1"/>
        </p:nvCxnSpPr>
        <p:spPr>
          <a:xfrm>
            <a:off x="1094316" y="1157951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6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56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60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0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7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6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9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F1A3C56-914D-4569-9038-3707BBD69C0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75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9B03-5D7A-58A7-0C9D-909F7DE3FA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 Directed Project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F00AB-D716-083D-205A-0C5983FAB0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Chad Mirkovich</a:t>
            </a:r>
          </a:p>
        </p:txBody>
      </p:sp>
    </p:spTree>
    <p:extLst>
      <p:ext uri="{BB962C8B-B14F-4D97-AF65-F5344CB8AC3E}">
        <p14:creationId xmlns:p14="http://schemas.microsoft.com/office/powerpoint/2010/main" val="3124923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4051-7AAA-0822-7427-D2C296FBE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58F59-A4F4-119D-AB9F-D3A96A292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Detailed Finite Element Models (DFEMS) are becoming the new standard</a:t>
            </a:r>
          </a:p>
          <a:p>
            <a:pPr lvl="1"/>
            <a:r>
              <a:rPr lang="en-US" dirty="0"/>
              <a:t>These are refined loads models</a:t>
            </a:r>
          </a:p>
          <a:p>
            <a:pPr lvl="1"/>
            <a:r>
              <a:rPr lang="en-US" dirty="0"/>
              <a:t>These are not stress models</a:t>
            </a:r>
          </a:p>
          <a:p>
            <a:r>
              <a:rPr lang="en-US" dirty="0"/>
              <a:t>Goal is to develop a breakout FEM solver within Python, to solve true stress models</a:t>
            </a:r>
          </a:p>
          <a:p>
            <a:pPr marL="182880" indent="-168275"/>
            <a:r>
              <a:rPr lang="en-US" dirty="0"/>
              <a:t>Solve refined meshes that use either 4 node quads or 8 node quads with 6/7 node quad transition elements</a:t>
            </a:r>
          </a:p>
          <a:p>
            <a:pPr marL="182880" indent="-168275"/>
            <a:r>
              <a:rPr lang="en-US" dirty="0"/>
              <a:t>Validate Python solver with elasticity solutions</a:t>
            </a:r>
          </a:p>
          <a:p>
            <a:pPr marL="182880" indent="-168275"/>
            <a:r>
              <a:rPr lang="en-US" dirty="0"/>
              <a:t>Compare mesh convergence rates between 4 and 8 node quadrilateral meshes. </a:t>
            </a:r>
          </a:p>
          <a:p>
            <a:pPr marL="14605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4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C154-82A2-4E7D-0742-AF075383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LEFM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1081C-8CCD-837D-2219-AFA4E6460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Fatigue and Damage Tolerance (F&amp;DT) analysis within industry uses Linear Elastic Fracture Mechanics (LEFM) software for crack propagation analysis</a:t>
            </a:r>
          </a:p>
          <a:p>
            <a:r>
              <a:rPr lang="en-US" dirty="0"/>
              <a:t>LFEM Software:</a:t>
            </a:r>
          </a:p>
          <a:p>
            <a:pPr lvl="1"/>
            <a:r>
              <a:rPr lang="en-US" dirty="0"/>
              <a:t>NASGROW</a:t>
            </a:r>
          </a:p>
          <a:p>
            <a:pPr lvl="1"/>
            <a:r>
              <a:rPr lang="en-US" dirty="0"/>
              <a:t>AFGROW</a:t>
            </a:r>
          </a:p>
          <a:p>
            <a:pPr lvl="1"/>
            <a:r>
              <a:rPr lang="en-US" dirty="0"/>
              <a:t>MAGIC</a:t>
            </a:r>
          </a:p>
          <a:p>
            <a:r>
              <a:rPr lang="en-US" dirty="0"/>
              <a:t>Conducts LEFM analysis for a limited set of known solutions</a:t>
            </a:r>
          </a:p>
          <a:p>
            <a:pPr lvl="1"/>
            <a:r>
              <a:rPr lang="en-US" dirty="0"/>
              <a:t>Results in many situations where the known solution does not reflect the actual condition</a:t>
            </a:r>
          </a:p>
          <a:p>
            <a:pPr lvl="1"/>
            <a:r>
              <a:rPr lang="en-US" dirty="0"/>
              <a:t>Can be due to loading or geometry</a:t>
            </a:r>
          </a:p>
          <a:p>
            <a:pPr lvl="1"/>
            <a:r>
              <a:rPr lang="en-US" dirty="0"/>
              <a:t>Solutions often need to be modified to conservatively represent the actual condition</a:t>
            </a:r>
          </a:p>
        </p:txBody>
      </p:sp>
    </p:spTree>
    <p:extLst>
      <p:ext uri="{BB962C8B-B14F-4D97-AF65-F5344CB8AC3E}">
        <p14:creationId xmlns:p14="http://schemas.microsoft.com/office/powerpoint/2010/main" val="529564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BBE4-21B7-C8E4-8CCE-ABB85A67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Frame Edge Crack Ex.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25F67-C218-1D26-990E-6EC9EC1B9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notebook with math equations and formulas&#10;&#10;AI-generated content may be incorrect.">
            <a:extLst>
              <a:ext uri="{FF2B5EF4-FFF2-40B4-BE49-F238E27FC236}">
                <a16:creationId xmlns:a16="http://schemas.microsoft.com/office/drawing/2014/main" id="{9B0DC119-2C1B-68B0-3C1A-6A7F748278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80" t="24155" r="15399" b="43285"/>
          <a:stretch>
            <a:fillRect/>
          </a:stretch>
        </p:blipFill>
        <p:spPr bwMode="auto">
          <a:xfrm>
            <a:off x="8043453" y="1233576"/>
            <a:ext cx="4148548" cy="39670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DFF473-70BC-D34A-3CA1-97AB42FA8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69" y="1233577"/>
            <a:ext cx="7062139" cy="3418731"/>
          </a:xfrm>
          <a:prstGeom prst="rect">
            <a:avLst/>
          </a:prstGeom>
        </p:spPr>
      </p:pic>
      <p:pic>
        <p:nvPicPr>
          <p:cNvPr id="6" name="Picture 5" descr="A diagram of a blue rectangular object&#10;&#10;AI-generated content may be incorrect.">
            <a:extLst>
              <a:ext uri="{FF2B5EF4-FFF2-40B4-BE49-F238E27FC236}">
                <a16:creationId xmlns:a16="http://schemas.microsoft.com/office/drawing/2014/main" id="{F5FF3A28-FFC2-0374-52C2-289923431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54" y="3362732"/>
            <a:ext cx="1686560" cy="281813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026C47F-3F27-93F2-5789-4556F47A934F}"/>
              </a:ext>
            </a:extLst>
          </p:cNvPr>
          <p:cNvSpPr/>
          <p:nvPr/>
        </p:nvSpPr>
        <p:spPr>
          <a:xfrm rot="1303633">
            <a:off x="1429038" y="1594449"/>
            <a:ext cx="1352550" cy="466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379363-A9A3-092D-0C8C-C90218FAF464}"/>
              </a:ext>
            </a:extLst>
          </p:cNvPr>
          <p:cNvCxnSpPr>
            <a:stCxn id="8" idx="2"/>
            <a:endCxn id="6" idx="0"/>
          </p:cNvCxnSpPr>
          <p:nvPr/>
        </p:nvCxnSpPr>
        <p:spPr>
          <a:xfrm flipH="1">
            <a:off x="1262034" y="2044595"/>
            <a:ext cx="756891" cy="131813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3D4665D-3653-1BB6-2AEF-80F1B4B9E0EA}"/>
                  </a:ext>
                </a:extLst>
              </p:cNvPr>
              <p:cNvSpPr/>
              <p:nvPr/>
            </p:nvSpPr>
            <p:spPr>
              <a:xfrm>
                <a:off x="2230479" y="4333027"/>
                <a:ext cx="4400018" cy="173524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LEFM analysis is driven by Stress Intensity K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𝜎𝛽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</m:oMath>
                  </m:oMathPara>
                </a14:m>
                <a:endParaRPr lang="en-US" sz="1600" b="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dirty="0"/>
                  <a:t> is the applied load/stress, a is crack length</a:t>
                </a:r>
                <a:endParaRPr lang="en-US" sz="1600" b="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600" dirty="0"/>
                  <a:t> is a geometry and loading correction factor that is determined empirically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600" dirty="0"/>
                  <a:t> can not account for the actual stress concentration </a:t>
                </a: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3D4665D-3653-1BB6-2AEF-80F1B4B9E0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479" y="4333027"/>
                <a:ext cx="4400018" cy="1735244"/>
              </a:xfrm>
              <a:prstGeom prst="rect">
                <a:avLst/>
              </a:prstGeom>
              <a:blipFill>
                <a:blip r:embed="rId6"/>
                <a:stretch>
                  <a:fillRect t="-2787" r="-138" b="-5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1028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332F7-D014-2B82-E8C8-9C7215AC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Kt Determination</a:t>
            </a:r>
          </a:p>
        </p:txBody>
      </p:sp>
      <p:pic>
        <p:nvPicPr>
          <p:cNvPr id="4" name="Picture 3" descr="A graph of a diagram&#10;&#10;AI-generated content may be incorrect.">
            <a:extLst>
              <a:ext uri="{FF2B5EF4-FFF2-40B4-BE49-F238E27FC236}">
                <a16:creationId xmlns:a16="http://schemas.microsoft.com/office/drawing/2014/main" id="{5C1C83BD-D94D-52E3-74C7-2358DDFC9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450" y="440372"/>
            <a:ext cx="4140200" cy="5653405"/>
          </a:xfrm>
          <a:prstGeom prst="rect">
            <a:avLst/>
          </a:prstGeom>
        </p:spPr>
      </p:pic>
      <p:pic>
        <p:nvPicPr>
          <p:cNvPr id="5" name="Picture 4" descr="A blue rectangular object with numbers and lines&#10;&#10;AI-generated content may be incorrect.">
            <a:extLst>
              <a:ext uri="{FF2B5EF4-FFF2-40B4-BE49-F238E27FC236}">
                <a16:creationId xmlns:a16="http://schemas.microsoft.com/office/drawing/2014/main" id="{264479A2-01D7-B834-3E59-A7D50BBA6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" y="3551335"/>
            <a:ext cx="7217452" cy="266477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3EAB17-28E8-58F9-EC57-18DD3EB822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233577"/>
                <a:ext cx="5808345" cy="4635517"/>
              </a:xfrm>
            </p:spPr>
            <p:txBody>
              <a:bodyPr/>
              <a:lstStyle/>
              <a:p>
                <a:r>
                  <a:rPr lang="en-US" dirty="0"/>
                  <a:t>In addition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factor, the kt due to the profile change must be accounted for</a:t>
                </a:r>
              </a:p>
              <a:p>
                <a:r>
                  <a:rPr lang="en-US" dirty="0"/>
                  <a:t>Typically use Kt curves from Peterson</a:t>
                </a:r>
              </a:p>
              <a:p>
                <a:r>
                  <a:rPr lang="en-US" dirty="0"/>
                  <a:t> Peterson curves do not match actual geometry</a:t>
                </a:r>
              </a:p>
              <a:p>
                <a:r>
                  <a:rPr lang="en-US" dirty="0"/>
                  <a:t>Actual Kt could range from 1.82 to 2.6</a:t>
                </a:r>
              </a:p>
              <a:p>
                <a:r>
                  <a:rPr lang="en-US" dirty="0"/>
                  <a:t>Would conservatively assume Kt = 2.6</a:t>
                </a:r>
              </a:p>
              <a:p>
                <a:r>
                  <a:rPr lang="en-US" dirty="0"/>
                  <a:t>Kt across the plate unknown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3EAB17-28E8-58F9-EC57-18DD3EB82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233577"/>
                <a:ext cx="5808345" cy="4635517"/>
              </a:xfrm>
              <a:blipFill>
                <a:blip r:embed="rId5"/>
                <a:stretch>
                  <a:fillRect l="-2204" t="-1183" r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439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D4FF-2C5A-AAE0-AFD6-93E1886C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Element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0082A-4D3F-9DEB-5045-0FBC2A2FB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Neither NASGROW or Peterson have solutions for the exact geometry shown </a:t>
            </a:r>
          </a:p>
          <a:p>
            <a:r>
              <a:rPr lang="en-US" dirty="0"/>
              <a:t>Typical AVFEM or loads DFEM would insufficiently model the detail for stress extraction</a:t>
            </a:r>
          </a:p>
          <a:p>
            <a:r>
              <a:rPr lang="en-US" dirty="0"/>
              <a:t>Propose break out FEM solver to solve a refined mesh of the critical region </a:t>
            </a:r>
          </a:p>
          <a:p>
            <a:pPr lvl="1"/>
            <a:r>
              <a:rPr lang="en-US" dirty="0"/>
              <a:t>4 node quad refinement </a:t>
            </a:r>
          </a:p>
          <a:p>
            <a:pPr lvl="1"/>
            <a:r>
              <a:rPr lang="en-US" dirty="0"/>
              <a:t>8 node quad refinement </a:t>
            </a:r>
          </a:p>
          <a:p>
            <a:endParaRPr lang="en-US" dirty="0"/>
          </a:p>
        </p:txBody>
      </p:sp>
      <p:pic>
        <p:nvPicPr>
          <p:cNvPr id="4" name="Picture 3" descr="A computer screen shot of a graph&#10;&#10;AI-generated content may be incorrect.">
            <a:extLst>
              <a:ext uri="{FF2B5EF4-FFF2-40B4-BE49-F238E27FC236}">
                <a16:creationId xmlns:a16="http://schemas.microsoft.com/office/drawing/2014/main" id="{74CF942F-077C-8205-B07C-AA640C0F0E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635"/>
          <a:stretch>
            <a:fillRect/>
          </a:stretch>
        </p:blipFill>
        <p:spPr>
          <a:xfrm>
            <a:off x="3038410" y="3091568"/>
            <a:ext cx="611518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41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AD5E-3BA1-EF96-1613-D594ED655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Solver Derivation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ECDB0-7AA5-B5DF-71AB-A65DDC971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Assumptions:</a:t>
            </a:r>
          </a:p>
          <a:p>
            <a:pPr lvl="1"/>
            <a:r>
              <a:rPr lang="en-US" dirty="0"/>
              <a:t>In-plane loading only (no bending)</a:t>
            </a:r>
          </a:p>
          <a:p>
            <a:pPr lvl="1"/>
            <a:r>
              <a:rPr lang="en-US" dirty="0"/>
              <a:t>Elements are in plane stress</a:t>
            </a:r>
          </a:p>
          <a:p>
            <a:pPr lvl="1"/>
            <a:r>
              <a:rPr lang="en-US" dirty="0"/>
              <a:t>Small deformation</a:t>
            </a:r>
          </a:p>
          <a:p>
            <a:pPr lvl="1"/>
            <a:r>
              <a:rPr lang="en-US" dirty="0"/>
              <a:t>Small rotations</a:t>
            </a:r>
          </a:p>
          <a:p>
            <a:pPr lvl="1"/>
            <a:r>
              <a:rPr lang="en-US" dirty="0"/>
              <a:t>2d stress tensor</a:t>
            </a:r>
          </a:p>
          <a:p>
            <a:pPr lvl="1"/>
            <a:r>
              <a:rPr lang="en-US" dirty="0"/>
              <a:t>No body forces</a:t>
            </a:r>
          </a:p>
          <a:p>
            <a:pPr lvl="1"/>
            <a:r>
              <a:rPr lang="en-US" dirty="0"/>
              <a:t>No surface tractions</a:t>
            </a:r>
          </a:p>
        </p:txBody>
      </p:sp>
    </p:spTree>
    <p:extLst>
      <p:ext uri="{BB962C8B-B14F-4D97-AF65-F5344CB8AC3E}">
        <p14:creationId xmlns:p14="http://schemas.microsoft.com/office/powerpoint/2010/main" val="2253919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937B-45C3-7572-C94E-36638D920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Constitutive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C4B86-25FE-9F7B-8790-D70695552A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Stress Vector: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/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/>
                            </m:ctrlPr>
                          </m:dPr>
                          <m:e>
                            <m:r>
                              <a:rPr lang="en-US" i="1" dirty="0"/>
                              <m:t>𝜎</m:t>
                            </m:r>
                          </m:e>
                        </m:d>
                      </m:e>
                      <m:sub>
                        <m:r>
                          <a:rPr lang="en-US" i="1" dirty="0"/>
                          <m:t>2</m:t>
                        </m:r>
                        <m:r>
                          <a:rPr lang="en-US" i="1" dirty="0"/>
                          <m:t>𝑑</m:t>
                        </m:r>
                      </m:sub>
                    </m:sSub>
                    <m:r>
                      <a:rPr lang="en-US" i="1" dirty="0"/>
                      <m:t>=[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i="1" dirty="0"/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i="1" dirty="0"/>
                              </m:ctrlPr>
                            </m:sSubPr>
                            <m:e>
                              <m:r>
                                <a:rPr lang="en-US" i="1" dirty="0"/>
                                <m:t>𝜎</m:t>
                              </m:r>
                            </m:e>
                            <m:sub>
                              <m:r>
                                <a:rPr lang="en-US" i="1" dirty="0"/>
                                <m:t>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 dirty="0"/>
                              </m:ctrlPr>
                            </m:sSubPr>
                            <m:e>
                              <m:r>
                                <a:rPr lang="en-US" i="1" dirty="0"/>
                                <m:t>𝜎</m:t>
                              </m:r>
                            </m:e>
                            <m:sub>
                              <m:r>
                                <a:rPr lang="en-US" i="1" dirty="0"/>
                                <m:t>𝑦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 dirty="0"/>
                              </m:ctrlPr>
                            </m:sSubPr>
                            <m:e>
                              <m:r>
                                <a:rPr lang="en-US" i="1" dirty="0"/>
                                <m:t>𝜏</m:t>
                              </m:r>
                            </m:e>
                            <m:sub>
                              <m:r>
                                <a:rPr lang="en-US" i="1" dirty="0"/>
                                <m:t>𝑥𝑦</m:t>
                              </m:r>
                            </m:sub>
                          </m:sSub>
                          <m:r>
                            <a:rPr lang="en-US" i="1" dirty="0"/>
                            <m:t>]</m:t>
                          </m:r>
                        </m:e>
                      </m:mr>
                    </m:m>
                  </m:oMath>
                </a14:m>
                <a:endParaRPr lang="en-US" dirty="0"/>
              </a:p>
              <a:p>
                <a:r>
                  <a:rPr lang="en-US" dirty="0"/>
                  <a:t>Strain Vector: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/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/>
                            </m:ctrlPr>
                          </m:dPr>
                          <m:e>
                            <m:r>
                              <a:rPr lang="en-US" i="1" dirty="0"/>
                              <m:t>𝜖</m:t>
                            </m:r>
                          </m:e>
                        </m:d>
                      </m:e>
                      <m:sub>
                        <m:r>
                          <a:rPr lang="en-US" i="1" dirty="0"/>
                          <m:t>2</m:t>
                        </m:r>
                        <m:r>
                          <a:rPr lang="en-US" i="1" dirty="0"/>
                          <m:t>𝑑</m:t>
                        </m:r>
                      </m:sub>
                    </m:sSub>
                    <m:r>
                      <a:rPr lang="en-US" i="1" dirty="0"/>
                      <m:t>=[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i="1" dirty="0"/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i="1" dirty="0"/>
                              </m:ctrlPr>
                            </m:sSubPr>
                            <m:e>
                              <m:r>
                                <a:rPr lang="en-US" i="1" dirty="0"/>
                                <m:t>𝜖</m:t>
                              </m:r>
                            </m:e>
                            <m:sub>
                              <m:r>
                                <a:rPr lang="en-US" i="1" dirty="0"/>
                                <m:t>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 dirty="0"/>
                              </m:ctrlPr>
                            </m:sSubPr>
                            <m:e>
                              <m:r>
                                <a:rPr lang="en-US" i="1" dirty="0"/>
                                <m:t>𝜖</m:t>
                              </m:r>
                            </m:e>
                            <m:sub>
                              <m:r>
                                <a:rPr lang="en-US" i="1" dirty="0"/>
                                <m:t>𝑦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 dirty="0"/>
                              </m:ctrlPr>
                            </m:sSubPr>
                            <m:e>
                              <m:r>
                                <a:rPr lang="en-US" i="1" dirty="0"/>
                                <m:t>𝜖</m:t>
                              </m:r>
                            </m:e>
                            <m:sub>
                              <m:r>
                                <a:rPr lang="en-US" i="1" dirty="0"/>
                                <m:t>𝑥𝑦</m:t>
                              </m:r>
                            </m:sub>
                          </m:sSub>
                          <m:r>
                            <a:rPr lang="en-US" i="1" dirty="0"/>
                            <m:t>]</m:t>
                          </m:r>
                        </m:e>
                      </m:mr>
                    </m:m>
                  </m:oMath>
                </a14:m>
                <a:endParaRPr lang="en-US" dirty="0"/>
              </a:p>
              <a:p>
                <a:r>
                  <a:rPr lang="en-US" dirty="0"/>
                  <a:t>Plane stress relationship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𝜎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𝜎</m:t>
                                  </m:r>
                                </m:e>
                                <m:sub>
                                  <m:r>
                                    <a:rPr lang="en-US" i="1"/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𝜏</m:t>
                                  </m:r>
                                </m:e>
                                <m:sub>
                                  <m:r>
                                    <a:rPr lang="en-US" i="1"/>
                                    <m:t>𝑥𝑦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𝐸</m:t>
                        </m:r>
                      </m:num>
                      <m:den>
                        <m:r>
                          <a:rPr lang="en-US" i="1"/>
                          <m:t>1−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𝑣</m:t>
                            </m:r>
                          </m:e>
                          <m:sup>
                            <m:r>
                              <a:rPr lang="en-US" i="1"/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 i="1"/>
                                <m:t>1</m:t>
                              </m:r>
                            </m:e>
                            <m:e>
                              <m:r>
                                <a:rPr lang="en-US" i="1"/>
                                <m:t>𝜈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/>
                                <m:t>𝜈</m:t>
                              </m:r>
                            </m:e>
                            <m:e>
                              <m:r>
                                <a:rPr lang="en-US" i="1"/>
                                <m:t>1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/>
                                  </m:ctrlPr>
                                </m:fPr>
                                <m:num>
                                  <m:r>
                                    <a:rPr lang="en-US" i="1"/>
                                    <m:t>1−</m:t>
                                  </m:r>
                                  <m:r>
                                    <a:rPr lang="en-US" i="1"/>
                                    <m:t>𝜈</m:t>
                                  </m:r>
                                </m:num>
                                <m:den>
                                  <m:r>
                                    <a:rPr lang="en-US" i="1"/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𝜖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𝜖</m:t>
                                  </m:r>
                                </m:e>
                                <m:sub>
                                  <m:r>
                                    <a:rPr lang="en-US" i="1"/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𝛾</m:t>
                                  </m:r>
                                </m:e>
                                <m:sub>
                                  <m:r>
                                    <a:rPr lang="en-US" i="1"/>
                                    <m:t>𝑥𝑦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C4B86-25FE-9F7B-8790-D70695552A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3" t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42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6BE3-4861-633A-8FAD-0FEEFD4E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1F6E3C-CE55-66F0-D52C-EC55023CE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Potential Energy: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/>
                      <m:t>Π</m:t>
                    </m:r>
                    <m:d>
                      <m:dPr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𝑢</m:t>
                        </m:r>
                      </m:e>
                    </m:d>
                    <m:r>
                      <a:rPr lang="en-US" i="1" dirty="0"/>
                      <m:t>=</m:t>
                    </m:r>
                    <m:sSub>
                      <m:sSubPr>
                        <m:ctrlPr>
                          <a:rPr lang="en-US" i="1" dirty="0"/>
                        </m:ctrlPr>
                      </m:sSubPr>
                      <m:e>
                        <m:r>
                          <a:rPr lang="en-US" i="1" dirty="0"/>
                          <m:t>𝑈</m:t>
                        </m:r>
                      </m:e>
                      <m:sub>
                        <m:r>
                          <a:rPr lang="en-US" i="1" dirty="0"/>
                          <m:t>𝐼</m:t>
                        </m:r>
                      </m:sub>
                    </m:sSub>
                    <m:d>
                      <m:dPr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𝑢</m:t>
                        </m:r>
                      </m:e>
                    </m:d>
                    <m:r>
                      <a:rPr lang="en-US" i="1" dirty="0"/>
                      <m:t>−</m:t>
                    </m:r>
                    <m:sSub>
                      <m:sSubPr>
                        <m:ctrlPr>
                          <a:rPr lang="en-US" i="1" dirty="0"/>
                        </m:ctrlPr>
                      </m:sSubPr>
                      <m:e>
                        <m:r>
                          <a:rPr lang="en-US" i="1" dirty="0"/>
                          <m:t>𝑈</m:t>
                        </m:r>
                      </m:e>
                      <m:sub>
                        <m:r>
                          <a:rPr lang="en-US" i="1" dirty="0"/>
                          <m:t>𝐸</m:t>
                        </m:r>
                      </m:sub>
                    </m:sSub>
                    <m:d>
                      <m:dPr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𝑢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Internal potential energy is the strain energy</a:t>
                </a:r>
              </a:p>
              <a:p>
                <a:pPr lvl="1"/>
                <a:r>
                  <a:rPr lang="en-US" dirty="0"/>
                  <a:t>Strain Energy: </a:t>
                </a:r>
                <a14:m>
                  <m:oMath xmlns:m="http://schemas.openxmlformats.org/officeDocument/2006/math">
                    <m:r>
                      <a:rPr lang="en-US" i="1" dirty="0"/>
                      <m:t>𝑑</m:t>
                    </m:r>
                    <m:sSub>
                      <m:sSubPr>
                        <m:ctrlPr>
                          <a:rPr lang="en-US" i="1" dirty="0"/>
                        </m:ctrlPr>
                      </m:sSubPr>
                      <m:e>
                        <m:r>
                          <a:rPr lang="en-US" i="1" dirty="0"/>
                          <m:t>𝑈</m:t>
                        </m:r>
                      </m:e>
                      <m:sub>
                        <m:r>
                          <a:rPr lang="en-US" i="1" dirty="0"/>
                          <m:t>𝐼</m:t>
                        </m:r>
                      </m:sub>
                    </m:sSub>
                    <m:r>
                      <a:rPr lang="en-US" i="1" dirty="0"/>
                      <m:t>=</m:t>
                    </m:r>
                    <m:sSup>
                      <m:sSupPr>
                        <m:ctrlPr>
                          <a:rPr lang="en-US" i="1" dirty="0"/>
                        </m:ctrlPr>
                      </m:sSupPr>
                      <m:e>
                        <m:r>
                          <a:rPr lang="en-US" i="1" dirty="0"/>
                          <m:t>𝜎</m:t>
                        </m:r>
                      </m:e>
                      <m:sup>
                        <m:r>
                          <a:rPr lang="en-US" i="1" dirty="0"/>
                          <m:t>𝑇</m:t>
                        </m:r>
                      </m:sup>
                    </m:sSup>
                    <m:r>
                      <a:rPr lang="en-US" i="1" dirty="0"/>
                      <m:t>𝑑</m:t>
                    </m:r>
                    <m:r>
                      <a:rPr lang="en-US" i="1" dirty="0"/>
                      <m:t>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Substituting the constitutive matrix </a:t>
                </a:r>
                <a14:m>
                  <m:oMath xmlns:m="http://schemas.openxmlformats.org/officeDocument/2006/math">
                    <m:r>
                      <a:rPr lang="en-US" i="1" dirty="0"/>
                      <m:t>𝑈</m:t>
                    </m:r>
                    <m:r>
                      <a:rPr lang="en-US" i="1" dirty="0"/>
                      <m:t>=</m:t>
                    </m:r>
                    <m:nary>
                      <m:naryPr>
                        <m:supHide m:val="on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𝑉</m:t>
                        </m:r>
                      </m:sub>
                      <m:sup/>
                      <m:e>
                        <m:nary>
                          <m:naryPr>
                            <m:ctrlPr>
                              <a:rPr lang="en-US" i="1" dirty="0"/>
                            </m:ctrlPr>
                          </m:naryPr>
                          <m:sub>
                            <m:r>
                              <a:rPr lang="en-US" i="1" dirty="0"/>
                              <m:t>0</m:t>
                            </m:r>
                          </m:sub>
                          <m:sup>
                            <m:r>
                              <a:rPr lang="en-US" i="1" dirty="0"/>
                              <m:t>𝜖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dirty="0"/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dirty="0"/>
                                    </m:ctrlPr>
                                  </m:dPr>
                                  <m:e>
                                    <m:r>
                                      <a:rPr lang="en-US" i="1" dirty="0"/>
                                      <m:t>𝐷</m:t>
                                    </m:r>
                                    <m:r>
                                      <a:rPr lang="en-US" i="1" dirty="0"/>
                                      <m:t>𝜖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 dirty="0"/>
                                  <m:t>𝑇</m:t>
                                </m:r>
                              </m:sup>
                            </m:sSup>
                            <m:r>
                              <a:rPr lang="en-US" i="1" dirty="0"/>
                              <m:t>𝑑</m:t>
                            </m:r>
                            <m:r>
                              <a:rPr lang="en-US" i="1" dirty="0"/>
                              <m:t>𝜖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Integrating strain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/>
                        </m:ctrlPr>
                      </m:sSubPr>
                      <m:e>
                        <m:r>
                          <a:rPr lang="en-US" i="1" dirty="0"/>
                          <m:t>𝑈</m:t>
                        </m:r>
                      </m:e>
                      <m:sub>
                        <m:r>
                          <a:rPr lang="en-US" i="1" dirty="0"/>
                          <m:t>𝐼</m:t>
                        </m:r>
                      </m:sub>
                    </m:sSub>
                    <m:d>
                      <m:dPr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𝑢</m:t>
                        </m:r>
                      </m:e>
                    </m:d>
                    <m:r>
                      <a:rPr lang="en-US" i="1" dirty="0"/>
                      <m:t>=</m:t>
                    </m:r>
                    <m:f>
                      <m:fPr>
                        <m:ctrlPr>
                          <a:rPr lang="en-US" i="1" dirty="0"/>
                        </m:ctrlPr>
                      </m:fPr>
                      <m:num>
                        <m:r>
                          <a:rPr lang="en-US" i="1" dirty="0"/>
                          <m:t>1</m:t>
                        </m:r>
                      </m:num>
                      <m:den>
                        <m:r>
                          <a:rPr lang="en-US" i="1" dirty="0"/>
                          <m:t>2</m:t>
                        </m:r>
                      </m:den>
                    </m:f>
                    <m:nary>
                      <m:naryPr>
                        <m:supHide m:val="on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𝑉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 dirty="0"/>
                            </m:ctrlPr>
                          </m:sSupPr>
                          <m:e>
                            <m:r>
                              <a:rPr lang="en-US" i="1" dirty="0"/>
                              <m:t>𝜖</m:t>
                            </m:r>
                          </m:e>
                          <m:sup>
                            <m:r>
                              <a:rPr lang="en-US" i="1" dirty="0"/>
                              <m:t>𝑇</m:t>
                            </m:r>
                          </m:sup>
                        </m:sSup>
                        <m:r>
                          <a:rPr lang="en-US" i="1" dirty="0"/>
                          <m:t>𝐷</m:t>
                        </m:r>
                        <m:r>
                          <a:rPr lang="en-US" i="1" dirty="0"/>
                          <m:t>𝜖</m:t>
                        </m:r>
                        <m:r>
                          <a:rPr lang="en-US" i="1" dirty="0"/>
                          <m:t>𝑑𝑉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External potential energy</a:t>
                </a:r>
              </a:p>
              <a:p>
                <a:pPr lvl="1"/>
                <a:r>
                  <a:rPr lang="en-US" dirty="0"/>
                  <a:t>External forces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𝑈</m:t>
                        </m:r>
                      </m:e>
                      <m:sub>
                        <m:r>
                          <a:rPr lang="en-US" i="1"/>
                          <m:t>𝐸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𝑢</m:t>
                        </m:r>
                      </m:e>
                    </m:d>
                    <m:r>
                      <a:rPr lang="en-US" i="1"/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𝑢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  <m:sup>
                            <m:r>
                              <a:rPr lang="en-US" i="1"/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body forces, no surface tractions</a:t>
                </a:r>
              </a:p>
              <a:p>
                <a:r>
                  <a:rPr lang="en-US" dirty="0"/>
                  <a:t>Total Potential Energy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Π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𝑢</m:t>
                        </m:r>
                      </m:e>
                    </m:d>
                    <m:r>
                      <a:rPr lang="en-US" i="1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1</m:t>
                        </m:r>
                      </m:num>
                      <m:den>
                        <m:r>
                          <a:rPr lang="en-US" i="1"/>
                          <m:t>2</m:t>
                        </m:r>
                      </m:den>
                    </m:f>
                    <m:nary>
                      <m:naryPr>
                        <m:supHide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𝑉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𝜖</m:t>
                            </m:r>
                          </m:e>
                          <m:sup>
                            <m:r>
                              <a:rPr lang="en-US" i="1"/>
                              <m:t>𝑇</m:t>
                            </m:r>
                          </m:sup>
                        </m:sSup>
                        <m:r>
                          <a:rPr lang="en-US" i="1"/>
                          <m:t>𝐷</m:t>
                        </m:r>
                        <m:r>
                          <a:rPr lang="en-US" i="1"/>
                          <m:t>𝜖</m:t>
                        </m:r>
                        <m:r>
                          <a:rPr lang="en-US" i="1"/>
                          <m:t>𝑑𝑉</m:t>
                        </m:r>
                      </m:e>
                    </m:nary>
                    <m:r>
                      <a:rPr lang="en-US" i="1"/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𝑢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  <m:sup>
                            <m:r>
                              <a:rPr lang="en-US" i="1"/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1F6E3C-CE55-66F0-D52C-EC55023CE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3" t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293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5EA75-F9D2-B114-1335-202B0F65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53399A-D718-B076-CC9E-5C22BB333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/>
                      <m:t>𝛿</m:t>
                    </m:r>
                    <m:r>
                      <m:rPr>
                        <m:sty m:val="p"/>
                      </m:rPr>
                      <a:rPr lang="en-US" dirty="0"/>
                      <m:t>Π</m:t>
                    </m:r>
                    <m:d>
                      <m:dPr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𝑢</m:t>
                        </m:r>
                      </m:e>
                    </m:d>
                    <m:r>
                      <a:rPr lang="en-US" i="1" dirty="0"/>
                      <m:t>=0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/>
                      <m:t>𝛿</m:t>
                    </m:r>
                    <m:r>
                      <m:rPr>
                        <m:sty m:val="p"/>
                      </m:rPr>
                      <a:rPr lang="en-US" dirty="0"/>
                      <m:t>Π</m:t>
                    </m:r>
                    <m:r>
                      <a:rPr lang="en-US" i="1" dirty="0"/>
                      <m:t>=</m:t>
                    </m:r>
                    <m:r>
                      <a:rPr lang="en-US" i="1" dirty="0"/>
                      <m:t>𝛿</m:t>
                    </m:r>
                    <m:sSub>
                      <m:sSubPr>
                        <m:ctrlPr>
                          <a:rPr lang="en-US" i="1" dirty="0"/>
                        </m:ctrlPr>
                      </m:sSubPr>
                      <m:e>
                        <m:r>
                          <a:rPr lang="en-US" i="1" dirty="0"/>
                          <m:t>𝑈</m:t>
                        </m:r>
                      </m:e>
                      <m:sub>
                        <m:r>
                          <a:rPr lang="en-US" i="1" dirty="0"/>
                          <m:t>𝐼</m:t>
                        </m:r>
                      </m:sub>
                    </m:sSub>
                    <m:r>
                      <a:rPr lang="en-US" i="1" dirty="0"/>
                      <m:t>−</m:t>
                    </m:r>
                    <m:r>
                      <a:rPr lang="en-US" i="1" dirty="0"/>
                      <m:t>𝛿</m:t>
                    </m:r>
                    <m:sSub>
                      <m:sSubPr>
                        <m:ctrlPr>
                          <a:rPr lang="en-US" i="1" dirty="0"/>
                        </m:ctrlPr>
                      </m:sSubPr>
                      <m:e>
                        <m:r>
                          <a:rPr lang="en-US" i="1" dirty="0"/>
                          <m:t>𝑈</m:t>
                        </m:r>
                      </m:e>
                      <m:sub>
                        <m:r>
                          <a:rPr lang="en-US" i="1" dirty="0"/>
                          <m:t>𝐸</m:t>
                        </m:r>
                      </m:sub>
                    </m:sSub>
                    <m:r>
                      <a:rPr lang="en-US" i="1" dirty="0"/>
                      <m:t>=</m:t>
                    </m:r>
                    <m:nary>
                      <m:naryPr>
                        <m:supHide m:val="on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𝑉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 dirty="0"/>
                            </m:ctrlPr>
                          </m:sSupPr>
                          <m:e>
                            <m:r>
                              <a:rPr lang="en-US" i="1" dirty="0"/>
                              <m:t>𝜖</m:t>
                            </m:r>
                          </m:e>
                          <m:sup>
                            <m:r>
                              <a:rPr lang="en-US" i="1" dirty="0"/>
                              <m:t>𝑇</m:t>
                            </m:r>
                          </m:sup>
                        </m:sSup>
                        <m:r>
                          <a:rPr lang="en-US" i="1" dirty="0"/>
                          <m:t>𝐷</m:t>
                        </m:r>
                        <m:r>
                          <a:rPr lang="en-US" i="1" dirty="0"/>
                          <m:t>𝛿𝜖</m:t>
                        </m:r>
                        <m:r>
                          <a:rPr lang="en-US" i="1" dirty="0"/>
                          <m:t>𝑑𝑉</m:t>
                        </m:r>
                      </m:e>
                    </m:nary>
                    <m:r>
                      <a:rPr lang="en-US" i="1" dirty="0"/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𝑖</m:t>
                        </m:r>
                      </m:sub>
                      <m:sup/>
                      <m:e>
                        <m:r>
                          <a:rPr lang="en-US" i="1" dirty="0"/>
                          <m:t>𝛿</m:t>
                        </m:r>
                        <m:sSubSup>
                          <m:sSubSupPr>
                            <m:ctrlPr>
                              <a:rPr lang="en-US" i="1" dirty="0"/>
                            </m:ctrlPr>
                          </m:sSubSupPr>
                          <m:e>
                            <m:r>
                              <a:rPr lang="en-US" i="1" dirty="0"/>
                              <m:t>𝑢</m:t>
                            </m:r>
                          </m:e>
                          <m:sub>
                            <m:r>
                              <a:rPr lang="en-US" i="1" dirty="0"/>
                              <m:t>𝑖</m:t>
                            </m:r>
                          </m:sub>
                          <m:sup>
                            <m:r>
                              <a:rPr lang="en-US" i="1" dirty="0"/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/>
                            </m:ctrlPr>
                          </m:sSubPr>
                          <m:e>
                            <m:r>
                              <a:rPr lang="en-US" i="1" dirty="0"/>
                              <m:t>𝑃</m:t>
                            </m:r>
                          </m:e>
                          <m:sub>
                            <m:r>
                              <a:rPr lang="en-US" i="1" dirty="0"/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 dirty="0"/>
                      <m:t>=0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𝑉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 dirty="0"/>
                            </m:ctrlPr>
                          </m:sSupPr>
                          <m:e>
                            <m:r>
                              <a:rPr lang="en-US" i="1" dirty="0"/>
                              <m:t>𝜖</m:t>
                            </m:r>
                          </m:e>
                          <m:sup>
                            <m:r>
                              <a:rPr lang="en-US" i="1" dirty="0"/>
                              <m:t>𝑇</m:t>
                            </m:r>
                          </m:sup>
                        </m:sSup>
                        <m:r>
                          <a:rPr lang="en-US" i="1" dirty="0"/>
                          <m:t>𝐷</m:t>
                        </m:r>
                        <m:r>
                          <a:rPr lang="en-US" i="1" dirty="0"/>
                          <m:t>𝛿𝜖</m:t>
                        </m:r>
                        <m:r>
                          <a:rPr lang="en-US" i="1" dirty="0"/>
                          <m:t>𝑑𝑉</m:t>
                        </m:r>
                      </m:e>
                    </m:nary>
                    <m:r>
                      <a:rPr lang="en-US" i="1" dirty="0"/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𝑖</m:t>
                        </m:r>
                      </m:sub>
                      <m:sup/>
                      <m:e>
                        <m:r>
                          <a:rPr lang="en-US" i="1" dirty="0"/>
                          <m:t>𝛿</m:t>
                        </m:r>
                        <m:sSubSup>
                          <m:sSubSupPr>
                            <m:ctrlPr>
                              <a:rPr lang="en-US" i="1" dirty="0"/>
                            </m:ctrlPr>
                          </m:sSubSupPr>
                          <m:e>
                            <m:r>
                              <a:rPr lang="en-US" i="1" dirty="0"/>
                              <m:t>𝑢</m:t>
                            </m:r>
                          </m:e>
                          <m:sub>
                            <m:r>
                              <a:rPr lang="en-US" i="1" dirty="0"/>
                              <m:t>𝑖</m:t>
                            </m:r>
                          </m:sub>
                          <m:sup>
                            <m:r>
                              <a:rPr lang="en-US" i="1" dirty="0"/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/>
                            </m:ctrlPr>
                          </m:sSubPr>
                          <m:e>
                            <m:r>
                              <a:rPr lang="en-US" i="1" dirty="0"/>
                              <m:t>𝑃</m:t>
                            </m:r>
                          </m:e>
                          <m:sub>
                            <m:r>
                              <a:rPr lang="en-US" i="1" dirty="0"/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With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dirty="0"/>
                  <a:t> Strain is known to be the partial derivatives of displacement </a:t>
                </a:r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𝑢</m:t>
                        </m:r>
                      </m:e>
                    </m:d>
                    <m:r>
                      <a:rPr lang="en-US" i="1" dirty="0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𝑁</m:t>
                        </m:r>
                      </m:e>
                    </m:d>
                    <m:r>
                      <a:rPr lang="en-US" i="1" dirty="0"/>
                      <m:t>{</m:t>
                    </m:r>
                    <m:r>
                      <a:rPr lang="en-US" i="1" dirty="0"/>
                      <m:t>𝑑</m:t>
                    </m:r>
                    <m:r>
                      <a:rPr lang="en-US" i="1" dirty="0"/>
                      <m:t>}</m:t>
                    </m:r>
                  </m:oMath>
                </a14:m>
                <a:r>
                  <a:rPr lang="en-US" dirty="0"/>
                  <a:t> Where N is the matrix of shape functions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𝜖</m:t>
                        </m:r>
                      </m:e>
                    </m:d>
                    <m:r>
                      <a:rPr lang="en-US" i="1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𝜕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𝑁</m:t>
                        </m:r>
                      </m:e>
                    </m:d>
                    <m:r>
                      <a:rPr lang="en-US" i="1"/>
                      <m:t>{</m:t>
                    </m:r>
                    <m:r>
                      <a:rPr lang="en-US" i="1"/>
                      <m:t>𝑑</m:t>
                    </m:r>
                    <m:r>
                      <a:rPr lang="en-US" i="1"/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Define B as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𝜕</m:t>
                        </m:r>
                      </m:e>
                    </m:d>
                    <m:r>
                      <a:rPr lang="en-US" i="1"/>
                      <m:t>[</m:t>
                    </m:r>
                    <m:r>
                      <a:rPr lang="en-US" i="1"/>
                      <m:t>𝑁</m:t>
                    </m:r>
                    <m:r>
                      <a:rPr lang="en-US" i="1"/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𝜖</m:t>
                        </m:r>
                      </m:e>
                    </m:d>
                    <m:r>
                      <a:rPr lang="en-US" i="1" dirty="0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𝐵</m:t>
                        </m:r>
                      </m:e>
                    </m:d>
                    <m:r>
                      <a:rPr lang="en-US" i="1" dirty="0"/>
                      <m:t>{</m:t>
                    </m:r>
                    <m:r>
                      <a:rPr lang="en-US" i="1" dirty="0"/>
                      <m:t>𝑑</m:t>
                    </m:r>
                    <m:r>
                      <a:rPr lang="en-US" i="1" dirty="0"/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𝑉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 dirty="0"/>
                            </m:ctrlPr>
                          </m:sSupPr>
                          <m:e>
                            <m:r>
                              <a:rPr lang="en-US" i="1" dirty="0"/>
                              <m:t>𝐵</m:t>
                            </m:r>
                          </m:e>
                          <m:sup>
                            <m:r>
                              <a:rPr lang="en-US" i="1" dirty="0"/>
                              <m:t>𝑇</m:t>
                            </m:r>
                          </m:sup>
                        </m:sSup>
                        <m:r>
                          <a:rPr lang="en-US" i="1" dirty="0"/>
                          <m:t>𝐷𝐵𝑑𝑉</m:t>
                        </m:r>
                      </m:e>
                    </m:nary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/>
                          <m:t>𝑑</m:t>
                        </m:r>
                      </m:e>
                    </m:d>
                    <m:r>
                      <a:rPr lang="en-US" i="1" dirty="0"/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["/>
                        <m:endChr m:val="]"/>
                        <m:ctrlPr>
                          <a:rPr lang="en-US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53399A-D718-B076-CC9E-5C22BB333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152" t="-2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1590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1418-ECD5-BE83-7BC4-AC568F7B9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Coordinate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614A6-C2A3-C228-0BE9-11FF58F5F4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Map global element coordinates from the x, y system to the natural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coordinate system.</a:t>
                </a:r>
              </a:p>
              <a:p>
                <a:r>
                  <a:rPr lang="en-US" dirty="0"/>
                  <a:t>Regardless of an elements size, distortion, rotation, or skew; the 4 points remain the same in the natural coordinate system</a:t>
                </a:r>
              </a:p>
              <a:p>
                <a:r>
                  <a:rPr lang="en-US" dirty="0"/>
                  <a:t>Mapping is done with the Jacobian matrix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𝐽</m:t>
                        </m:r>
                        <m:r>
                          <a:rPr lang="en-US" i="1" dirty="0"/>
                          <m:t> </m:t>
                        </m:r>
                      </m:e>
                    </m:d>
                    <m:r>
                      <a:rPr lang="en-US" i="1" dirty="0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 dirty="0"/>
                                  </m:ctrlPr>
                                </m:fPr>
                                <m:num>
                                  <m:r>
                                    <a:rPr lang="en-US" i="1" dirty="0"/>
                                    <m:t>𝜕</m:t>
                                  </m:r>
                                  <m:r>
                                    <a:rPr lang="en-US" i="1" dirty="0"/>
                                    <m:t>𝑥</m:t>
                                  </m:r>
                                </m:num>
                                <m:den>
                                  <m:r>
                                    <a:rPr lang="en-US" i="1" dirty="0"/>
                                    <m:t>𝜕𝜉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 dirty="0"/>
                                  </m:ctrlPr>
                                </m:fPr>
                                <m:num>
                                  <m:r>
                                    <a:rPr lang="en-US" i="1" dirty="0"/>
                                    <m:t>𝜕</m:t>
                                  </m:r>
                                  <m:r>
                                    <a:rPr lang="en-US" i="1" dirty="0"/>
                                    <m:t>𝑥</m:t>
                                  </m:r>
                                </m:num>
                                <m:den>
                                  <m:r>
                                    <a:rPr lang="en-US" i="1" dirty="0"/>
                                    <m:t>𝜕𝜂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 dirty="0"/>
                                  </m:ctrlPr>
                                </m:fPr>
                                <m:num>
                                  <m:r>
                                    <a:rPr lang="en-US" i="1" dirty="0"/>
                                    <m:t>𝜕</m:t>
                                  </m:r>
                                  <m:r>
                                    <a:rPr lang="en-US" i="1" dirty="0"/>
                                    <m:t>𝑦</m:t>
                                  </m:r>
                                </m:num>
                                <m:den>
                                  <m:r>
                                    <a:rPr lang="en-US" i="1" dirty="0"/>
                                    <m:t>𝜕𝜉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 dirty="0"/>
                                  </m:ctrlPr>
                                </m:fPr>
                                <m:num>
                                  <m:r>
                                    <a:rPr lang="en-US" i="1" dirty="0"/>
                                    <m:t>𝜕</m:t>
                                  </m:r>
                                  <m:r>
                                    <a:rPr lang="en-US" i="1" dirty="0"/>
                                    <m:t>𝑦</m:t>
                                  </m:r>
                                </m:num>
                                <m:den>
                                  <m:r>
                                    <a:rPr lang="en-US" i="1" dirty="0"/>
                                    <m:t>𝜕𝜂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Mapping the integration bounds in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coordinate system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sSub>
                          <m:sSubPr>
                            <m:ctrlPr>
                              <a:rPr lang="en-US" i="1" dirty="0"/>
                            </m:ctrlPr>
                          </m:sSubPr>
                          <m:e>
                            <m:r>
                              <a:rPr lang="en-US" i="1" dirty="0"/>
                              <m:t>𝑘</m:t>
                            </m:r>
                          </m:e>
                          <m:sub>
                            <m:r>
                              <a:rPr lang="en-US" i="1" dirty="0"/>
                              <m:t>𝑒</m:t>
                            </m:r>
                          </m:sub>
                        </m:sSub>
                      </m:e>
                    </m:d>
                    <m:r>
                      <a:rPr lang="en-US" i="1" dirty="0"/>
                      <m:t>(</m:t>
                    </m:r>
                    <m:r>
                      <a:rPr lang="en-US" i="1" dirty="0"/>
                      <m:t>𝑥</m:t>
                    </m:r>
                    <m:r>
                      <a:rPr lang="en-US" i="1" dirty="0"/>
                      <m:t>, </m:t>
                    </m:r>
                    <m:r>
                      <a:rPr lang="en-US" i="1" dirty="0"/>
                      <m:t>𝑦</m:t>
                    </m:r>
                    <m:r>
                      <a:rPr lang="en-US" i="1" dirty="0"/>
                      <m:t>)=</m:t>
                    </m:r>
                    <m:r>
                      <a:rPr lang="en-US" i="1" dirty="0"/>
                      <m:t>𝑡</m:t>
                    </m:r>
                    <m:r>
                      <a:rPr lang="en-US" i="1" dirty="0"/>
                      <m:t>∫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∫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[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 dirty="0"/>
                      <m:t>𝑑</m:t>
                    </m:r>
                    <m:r>
                      <a:rPr lang="en-US" i="1" dirty="0"/>
                      <m:t>𝜉</m:t>
                    </m:r>
                    <m:r>
                      <a:rPr lang="en-US" i="1" dirty="0"/>
                      <m:t>𝑑</m:t>
                    </m:r>
                    <m:r>
                      <a:rPr lang="en-US" i="1" dirty="0"/>
                      <m:t>𝜂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614A6-C2A3-C228-0BE9-11FF58F5F4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3" t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blue rectangles with white text&#10;&#10;AI-generated content may be incorrect.">
            <a:extLst>
              <a:ext uri="{FF2B5EF4-FFF2-40B4-BE49-F238E27FC236}">
                <a16:creationId xmlns:a16="http://schemas.microsoft.com/office/drawing/2014/main" id="{3020DAA3-613A-41E4-0BED-D915F1BD9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4005352"/>
            <a:ext cx="5486400" cy="228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0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6350-5289-CCEA-7A21-CD9C0438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Stiffness / B Matrix Derivation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EDC19A-8E51-1799-1E12-9A3EFB6FD2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/>
                        </m:ctrlPr>
                      </m:sSubPr>
                      <m:e>
                        <m:r>
                          <a:rPr lang="en-US" i="1" dirty="0"/>
                          <m:t>𝐾</m:t>
                        </m:r>
                      </m:e>
                      <m:sub>
                        <m:r>
                          <a:rPr lang="en-US" i="1" dirty="0"/>
                          <m:t>𝑒</m:t>
                        </m:r>
                      </m:sub>
                    </m:sSub>
                    <m:r>
                      <a:rPr lang="en-US" i="1" dirty="0"/>
                      <m:t>=</m:t>
                    </m:r>
                    <m:nary>
                      <m:naryPr>
                        <m:supHide m:val="on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𝑉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 dirty="0"/>
                            </m:ctrlPr>
                          </m:sSupPr>
                          <m:e>
                            <m:r>
                              <a:rPr lang="en-US" i="1" dirty="0"/>
                              <m:t>𝐵</m:t>
                            </m:r>
                          </m:e>
                          <m:sup>
                            <m:r>
                              <a:rPr lang="en-US" i="1" dirty="0"/>
                              <m:t>𝑇</m:t>
                            </m:r>
                          </m:sup>
                        </m:sSup>
                        <m:r>
                          <a:rPr lang="en-US" i="1" dirty="0"/>
                          <m:t>𝐷𝐵𝑑𝑉</m:t>
                        </m:r>
                      </m:e>
                    </m:nary>
                    <m:r>
                      <a:rPr lang="en-US" i="1" dirty="0"/>
                      <m:t>= </m:t>
                    </m:r>
                    <m:r>
                      <a:rPr lang="en-US" i="1" dirty="0"/>
                      <m:t>𝑡</m:t>
                    </m:r>
                    <m:nary>
                      <m:naryPr>
                        <m:supHide m:val="on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𝑦</m:t>
                        </m:r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en-US" i="1" dirty="0"/>
                            </m:ctrlPr>
                          </m:naryPr>
                          <m:sub>
                            <m:r>
                              <a:rPr lang="en-US" i="1" dirty="0"/>
                              <m:t>𝑥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 dirty="0"/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dirty="0"/>
                                    </m:ctrlPr>
                                  </m:dPr>
                                  <m:e>
                                    <m:r>
                                      <a:rPr lang="en-US" i="1" dirty="0"/>
                                      <m:t>𝐵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 dirty="0"/>
                                  <m:t>𝑇</m:t>
                                </m:r>
                              </m:sup>
                            </m:s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/>
                                </m:ctrlPr>
                              </m:dPr>
                              <m:e>
                                <m:r>
                                  <a:rPr lang="en-US" i="1" dirty="0"/>
                                  <m:t>𝐷</m:t>
                                </m:r>
                              </m:e>
                            </m:d>
                            <m:r>
                              <a:rPr lang="en-US" i="1" dirty="0"/>
                              <m:t>[</m:t>
                            </m:r>
                            <m:r>
                              <a:rPr lang="en-US" i="1" dirty="0"/>
                              <m:t>𝐵</m:t>
                            </m:r>
                            <m:r>
                              <a:rPr lang="en-US" i="1" dirty="0"/>
                              <m:t>] </m:t>
                            </m:r>
                            <m:r>
                              <a:rPr lang="en-US" i="1" dirty="0"/>
                              <m:t>𝑑𝑥</m:t>
                            </m:r>
                            <m:r>
                              <a:rPr lang="en-US" i="1" dirty="0"/>
                              <m:t> </m:t>
                            </m:r>
                            <m:r>
                              <a:rPr lang="en-US" i="1" dirty="0"/>
                              <m:t>𝑑𝑦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B Matrix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𝜖</m:t>
                        </m:r>
                      </m:e>
                    </m:d>
                    <m:r>
                      <a:rPr lang="en-US" i="1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𝐵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𝜖</m:t>
                        </m:r>
                      </m:e>
                      <m:sub>
                        <m:r>
                          <a:rPr lang="en-US" i="1"/>
                          <m:t>𝑥</m:t>
                        </m:r>
                      </m:sub>
                    </m:sSub>
                    <m:r>
                      <a:rPr lang="en-US" i="1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𝜕</m:t>
                        </m:r>
                        <m:r>
                          <a:rPr lang="en-US" i="1"/>
                          <m:t>𝑢</m:t>
                        </m:r>
                      </m:num>
                      <m:den>
                        <m:r>
                          <a:rPr lang="en-US" i="1"/>
                          <m:t>𝜕</m:t>
                        </m:r>
                        <m:r>
                          <a:rPr lang="en-US" i="1"/>
                          <m:t>𝑥</m:t>
                        </m:r>
                      </m:den>
                    </m:f>
                    <m:r>
                      <a:rPr lang="en-US" i="1"/>
                      <m:t>, 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𝜖</m:t>
                        </m:r>
                      </m:e>
                      <m:sub>
                        <m:r>
                          <a:rPr lang="en-US" i="1"/>
                          <m:t>𝑦</m:t>
                        </m:r>
                      </m:sub>
                    </m:sSub>
                    <m:r>
                      <a:rPr lang="en-US" i="1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𝜕</m:t>
                        </m:r>
                        <m:r>
                          <a:rPr lang="en-US" i="1"/>
                          <m:t>𝑣</m:t>
                        </m:r>
                      </m:num>
                      <m:den>
                        <m:r>
                          <a:rPr lang="en-US" i="1"/>
                          <m:t>𝜕</m:t>
                        </m:r>
                        <m:r>
                          <a:rPr lang="en-US" i="1"/>
                          <m:t>𝑦</m:t>
                        </m:r>
                      </m:den>
                    </m:f>
                    <m:r>
                      <a:rPr lang="en-US" i="1"/>
                      <m:t>, 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𝛾</m:t>
                        </m:r>
                      </m:e>
                      <m:sub>
                        <m:r>
                          <a:rPr lang="en-US" i="1"/>
                          <m:t>𝑥𝑦</m:t>
                        </m:r>
                      </m:sub>
                    </m:sSub>
                    <m:r>
                      <a:rPr lang="en-US" i="1"/>
                      <m:t>=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𝜕</m:t>
                            </m:r>
                            <m:r>
                              <a:rPr lang="en-US" i="1"/>
                              <m:t>𝑢</m:t>
                            </m:r>
                          </m:num>
                          <m:den>
                            <m:r>
                              <a:rPr lang="en-US" i="1"/>
                              <m:t>𝜕</m:t>
                            </m:r>
                            <m:r>
                              <a:rPr lang="en-US" i="1"/>
                              <m:t>𝑦</m:t>
                            </m:r>
                          </m:den>
                        </m:f>
                        <m:r>
                          <a:rPr lang="en-US" i="1"/>
                          <m:t>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𝜕</m:t>
                            </m:r>
                            <m:r>
                              <a:rPr lang="en-US" i="1"/>
                              <m:t>𝑣</m:t>
                            </m:r>
                          </m:num>
                          <m:den>
                            <m:r>
                              <a:rPr lang="en-US" i="1"/>
                              <m:t>𝜕</m:t>
                            </m:r>
                            <m:r>
                              <a:rPr lang="en-US" i="1"/>
                              <m:t>𝑥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𝜀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𝜀</m:t>
                                  </m:r>
                                </m:e>
                                <m:sub>
                                  <m:r>
                                    <a:rPr lang="en-US" i="1"/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𝛾</m:t>
                                  </m:r>
                                </m:e>
                                <m:sub>
                                  <m:r>
                                    <a:rPr lang="en-US" i="1"/>
                                    <m:t>𝑥𝑦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 i="1"/>
                                <m:t>1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1</m:t>
                              </m:r>
                            </m:e>
                            <m:e>
                              <m:r>
                                <a:rPr lang="en-US" i="1"/>
                                <m:t>1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/>
                                  </m:ctrlPr>
                                </m:fPr>
                                <m:num>
                                  <m:r>
                                    <a:rPr lang="en-US" i="1"/>
                                    <m:t>𝜕</m:t>
                                  </m:r>
                                  <m:r>
                                    <a:rPr lang="en-US" i="1"/>
                                    <m:t>𝑢</m:t>
                                  </m:r>
                                </m:num>
                                <m:den>
                                  <m:r>
                                    <a:rPr lang="en-US" i="1"/>
                                    <m:t>𝜕</m:t>
                                  </m:r>
                                  <m:r>
                                    <a:rPr lang="en-US" i="1"/>
                                    <m:t>𝑥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/>
                                  </m:ctrlPr>
                                </m:fPr>
                                <m:num>
                                  <m:r>
                                    <a:rPr lang="en-US" i="1"/>
                                    <m:t>𝜕</m:t>
                                  </m:r>
                                  <m:r>
                                    <a:rPr lang="en-US" i="1"/>
                                    <m:t>𝑢</m:t>
                                  </m:r>
                                </m:num>
                                <m:den>
                                  <m:r>
                                    <a:rPr lang="en-US" i="1"/>
                                    <m:t>𝜕</m:t>
                                  </m:r>
                                  <m:r>
                                    <a:rPr lang="en-US" i="1"/>
                                    <m:t>𝑦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/>
                                  </m:ctrlPr>
                                </m:fPr>
                                <m:num>
                                  <m:r>
                                    <a:rPr lang="en-US" i="1"/>
                                    <m:t>𝜕</m:t>
                                  </m:r>
                                  <m:r>
                                    <a:rPr lang="en-US" i="1"/>
                                    <m:t>𝑣</m:t>
                                  </m:r>
                                </m:num>
                                <m:den>
                                  <m:r>
                                    <a:rPr lang="en-US" i="1"/>
                                    <m:t>𝜕</m:t>
                                  </m:r>
                                  <m:r>
                                    <a:rPr lang="en-US" i="1"/>
                                    <m:t>𝑥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/>
                                  </m:ctrlPr>
                                </m:fPr>
                                <m:num>
                                  <m:r>
                                    <a:rPr lang="en-US" i="1"/>
                                    <m:t>𝜕</m:t>
                                  </m:r>
                                  <m:r>
                                    <a:rPr lang="en-US" i="1"/>
                                    <m:t>𝑣</m:t>
                                  </m:r>
                                </m:num>
                                <m:den>
                                  <m:r>
                                    <a:rPr lang="en-US" i="1"/>
                                    <m:t>𝜕</m:t>
                                  </m:r>
                                  <m:r>
                                    <a:rPr lang="en-US" i="1"/>
                                    <m:t>𝑦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 i="1"/>
                                <m:t>𝑢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/>
                                <m:t>𝑢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/>
                                <m:t>𝑣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/>
                                <m:t>𝑣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 i="1"/>
                                <m:t>𝜉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/>
                                <m:t>𝜂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/>
                                <m:t>𝜉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/>
                                <m:t>𝜂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𝜉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/>
                                <m:t>𝜂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𝜉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/>
                                <m:t>𝜂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 i="1"/>
                                <m:t>𝑢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𝜉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/>
                                <m:t>𝑢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𝜂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/>
                                <m:t>𝑣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𝜉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/>
                                <m:t>𝑣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𝜂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i="1"/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 </m:t>
                                      </m:r>
                                      <m:r>
                                        <a:rPr lang="en-US" i="1"/>
                                        <m:t>𝐽</m:t>
                                      </m:r>
                                      <m:r>
                                        <a:rPr lang="en-US" i="1"/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/>
                                    <m:t>−1</m:t>
                                  </m:r>
                                </m:sup>
                              </m:sSup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/>
                                  </m:ctrlPr>
                                </m:mPr>
                                <m:mr>
                                  <m:e>
                                    <m:r>
                                      <a:rPr lang="en-US" i="1"/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/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/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/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/>
                                  </m:ctrlPr>
                                </m:mPr>
                                <m:mr>
                                  <m:e>
                                    <m:r>
                                      <a:rPr lang="en-US" i="1"/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/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/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/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sSup>
                                <m:sSupPr>
                                  <m:ctrlPr>
                                    <a:rPr lang="en-US" i="1"/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 </m:t>
                                      </m:r>
                                      <m:r>
                                        <a:rPr lang="en-US" i="1"/>
                                        <m:t>𝐽</m:t>
                                      </m:r>
                                      <m:r>
                                        <a:rPr lang="en-US" i="1"/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/>
                                    <m:t>−1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 i="1"/>
                                <m:t>𝑢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𝜉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/>
                                <m:t>𝑢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𝜂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/>
                                <m:t>𝑣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𝜉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/>
                                <m:t>𝑣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,</m:t>
                                  </m:r>
                                </m:e>
                                <m:sub>
                                  <m:r>
                                    <a:rPr lang="en-US" i="1"/>
                                    <m:t>𝜂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EDC19A-8E51-1799-1E12-9A3EFB6FD2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3" t="-12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09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CB157-A2D5-69BA-EB4B-8A8DD4519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 Matrix Derivation Continued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3D725A-FF2F-D7E6-0F86-CE9779BA8E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 smtClean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𝜀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𝜀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𝛾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dirty="0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r>
                                <a:rPr lang="en-US" i="1" dirty="0"/>
                                <m:t>1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1</m:t>
                              </m:r>
                            </m:e>
                            <m:e>
                              <m:r>
                                <a:rPr lang="en-US" i="1" dirty="0"/>
                                <m:t>1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  <m:r>
                                <a:rPr lang="en-US" i="1" dirty="0"/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r>
                                <a:rPr lang="en-US" i="1" dirty="0"/>
                                <m:t>𝑢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𝜉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𝑢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𝜂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𝑣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𝜉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𝑣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𝜂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Displacements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are approximated with shape functions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/>
                        </m:ctrlPr>
                      </m:accPr>
                      <m:e>
                        <m:r>
                          <a:rPr lang="en-US" i="1" dirty="0"/>
                          <m:t>𝑢</m:t>
                        </m:r>
                      </m:e>
                    </m:acc>
                    <m:d>
                      <m:dPr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𝜉</m:t>
                        </m:r>
                        <m:r>
                          <a:rPr lang="en-US" i="1" dirty="0"/>
                          <m:t>,</m:t>
                        </m:r>
                        <m:r>
                          <a:rPr lang="en-US" i="1" dirty="0"/>
                          <m:t>𝜂</m:t>
                        </m:r>
                      </m:e>
                    </m:d>
                    <m:r>
                      <a:rPr lang="en-US" i="1" dirty="0"/>
                      <m:t>= </m:t>
                    </m:r>
                    <m:nary>
                      <m:naryPr>
                        <m:chr m:val="∑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𝑖</m:t>
                        </m:r>
                        <m:r>
                          <a:rPr lang="en-US" i="1" dirty="0"/>
                          <m:t>=1</m:t>
                        </m:r>
                      </m:sub>
                      <m:sup>
                        <m:r>
                          <a:rPr lang="en-US" i="1" dirty="0"/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/>
                            </m:ctrlPr>
                          </m:sSubPr>
                          <m:e>
                            <m:r>
                              <a:rPr lang="en-US" i="1" dirty="0"/>
                              <m:t>𝑁</m:t>
                            </m:r>
                          </m:e>
                          <m:sub>
                            <m:r>
                              <a:rPr lang="en-US" i="1" dirty="0"/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 dirty="0"/>
                            </m:ctrlPr>
                          </m:dPr>
                          <m:e>
                            <m:r>
                              <a:rPr lang="en-US" i="1" dirty="0"/>
                              <m:t>𝜉</m:t>
                            </m:r>
                            <m:r>
                              <a:rPr lang="en-US" i="1" dirty="0"/>
                              <m:t>, </m:t>
                            </m:r>
                            <m:r>
                              <a:rPr lang="en-US" i="1" dirty="0"/>
                              <m:t>𝜂</m:t>
                            </m:r>
                          </m:e>
                        </m:d>
                        <m:sSub>
                          <m:sSubPr>
                            <m:ctrlPr>
                              <a:rPr lang="en-US" i="1" dirty="0"/>
                            </m:ctrlPr>
                          </m:sSubPr>
                          <m:e>
                            <m:r>
                              <a:rPr lang="en-US" i="1" dirty="0"/>
                              <m:t>𝑢</m:t>
                            </m:r>
                          </m:e>
                          <m:sub>
                            <m:r>
                              <a:rPr lang="en-US" i="1" dirty="0"/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 dirty="0"/>
                      <m:t>,  </m:t>
                    </m:r>
                    <m:acc>
                      <m:accPr>
                        <m:chr m:val="̂"/>
                        <m:ctrlPr>
                          <a:rPr lang="en-US" i="1" dirty="0"/>
                        </m:ctrlPr>
                      </m:accPr>
                      <m:e>
                        <m:r>
                          <a:rPr lang="en-US" i="1" dirty="0"/>
                          <m:t>𝑣</m:t>
                        </m:r>
                      </m:e>
                    </m:acc>
                    <m:d>
                      <m:dPr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𝜉</m:t>
                        </m:r>
                        <m:r>
                          <a:rPr lang="en-US" i="1" dirty="0"/>
                          <m:t>,</m:t>
                        </m:r>
                        <m:r>
                          <a:rPr lang="en-US" i="1" dirty="0"/>
                          <m:t>𝜂</m:t>
                        </m:r>
                      </m:e>
                    </m:d>
                    <m:r>
                      <a:rPr lang="en-US" i="1" dirty="0"/>
                      <m:t>= </m:t>
                    </m:r>
                    <m:nary>
                      <m:naryPr>
                        <m:chr m:val="∑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𝑖</m:t>
                        </m:r>
                        <m:r>
                          <a:rPr lang="en-US" i="1" dirty="0"/>
                          <m:t>=1</m:t>
                        </m:r>
                      </m:sub>
                      <m:sup>
                        <m:r>
                          <a:rPr lang="en-US" i="1" dirty="0"/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/>
                            </m:ctrlPr>
                          </m:sSubPr>
                          <m:e>
                            <m:r>
                              <a:rPr lang="en-US" i="1" dirty="0"/>
                              <m:t>𝑁</m:t>
                            </m:r>
                          </m:e>
                          <m:sub>
                            <m:r>
                              <a:rPr lang="en-US" i="1" dirty="0"/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 dirty="0"/>
                            </m:ctrlPr>
                          </m:dPr>
                          <m:e>
                            <m:r>
                              <a:rPr lang="en-US" i="1" dirty="0"/>
                              <m:t>𝜉</m:t>
                            </m:r>
                            <m:r>
                              <a:rPr lang="en-US" i="1" dirty="0"/>
                              <m:t>,</m:t>
                            </m:r>
                            <m:r>
                              <a:rPr lang="en-US" i="1" dirty="0"/>
                              <m:t>𝜂</m:t>
                            </m:r>
                          </m:e>
                        </m:d>
                        <m:sSub>
                          <m:sSubPr>
                            <m:ctrlPr>
                              <a:rPr lang="en-US" i="1" dirty="0"/>
                            </m:ctrlPr>
                          </m:sSubPr>
                          <m:e>
                            <m:r>
                              <a:rPr lang="en-US" i="1" dirty="0"/>
                              <m:t>𝑣</m:t>
                            </m:r>
                          </m:e>
                          <m:sub>
                            <m:r>
                              <a:rPr lang="en-US" i="1" dirty="0"/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US" i="1" dirty="0"/>
                                  </m:ctrlPr>
                                </m:accPr>
                                <m:e>
                                  <m:r>
                                    <a:rPr lang="en-US" i="1" dirty="0"/>
                                    <m:t>𝑢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US" i="1" dirty="0"/>
                                  </m:ctrlPr>
                                </m:accPr>
                                <m:e>
                                  <m:r>
                                    <a:rPr lang="en-US" i="1" dirty="0"/>
                                    <m:t>𝑣</m:t>
                                  </m:r>
                                </m:e>
                              </m:acc>
                              <m:r>
                                <a:rPr lang="en-US" i="1" dirty="0"/>
                                <m:t> </m:t>
                              </m:r>
                            </m:e>
                          </m:mr>
                        </m:m>
                      </m:e>
                    </m:d>
                    <m:r>
                      <a:rPr lang="en-US" i="1" dirty="0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𝑢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𝑣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Taking the derivatives with respect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and substituting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𝜀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𝜀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𝛾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dirty="0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r>
                                <a:rPr lang="en-US" i="1" dirty="0"/>
                                <m:t>1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1</m:t>
                              </m:r>
                            </m:e>
                            <m:e>
                              <m:r>
                                <a:rPr lang="en-US" i="1" dirty="0"/>
                                <m:t>1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  <m:r>
                                <a:rPr lang="en-US" i="1" dirty="0"/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</m:t>
                                  </m:r>
                                  <m:r>
                                    <a:rPr lang="en-US" i="1" dirty="0"/>
                                    <m:t>𝜉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</m:t>
                                  </m:r>
                                  <m:r>
                                    <a:rPr lang="en-US" i="1" dirty="0"/>
                                    <m:t>𝜂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</m:t>
                                  </m:r>
                                  <m:r>
                                    <a:rPr lang="en-US" i="1" dirty="0"/>
                                    <m:t>𝜉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</m:t>
                                  </m:r>
                                  <m:r>
                                    <a:rPr lang="en-US" i="1" dirty="0"/>
                                    <m:t>𝜂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𝑢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𝑣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</m:t>
                                  </m:r>
                                  <m:r>
                                    <a:rPr lang="en-US" i="1" dirty="0"/>
                                    <m:t>𝜉</m:t>
                                  </m:r>
                                </m:sub>
                              </m:sSub>
                              <m:r>
                                <a:rPr lang="en-US" i="1" dirty="0"/>
                                <m:t>+</m:t>
                              </m:r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</m:t>
                                  </m:r>
                                  <m:r>
                                    <a:rPr lang="en-US" i="1" dirty="0"/>
                                    <m:t>𝜂</m:t>
                                  </m:r>
                                </m:sub>
                              </m:sSub>
                              <m:r>
                                <a:rPr lang="en-US" i="1" dirty="0"/>
                                <m:t> </m:t>
                              </m:r>
                            </m:e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0</m:t>
                              </m:r>
                            </m:e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</m:t>
                                  </m:r>
                                  <m:r>
                                    <a:rPr lang="en-US" i="1" dirty="0"/>
                                    <m:t>𝜉</m:t>
                                  </m:r>
                                </m:sub>
                              </m:sSub>
                              <m:r>
                                <a:rPr lang="en-US" i="1" dirty="0"/>
                                <m:t>+</m:t>
                              </m:r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 </m:t>
                                  </m:r>
                                  <m:r>
                                    <a:rPr lang="en-US" i="1" dirty="0"/>
                                    <m:t>𝜂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</m:t>
                                  </m:r>
                                  <m:r>
                                    <a:rPr lang="en-US" i="1" dirty="0"/>
                                    <m:t>𝜉</m:t>
                                  </m:r>
                                </m:sub>
                              </m:sSub>
                              <m:r>
                                <a:rPr lang="en-US" i="1" dirty="0"/>
                                <m:t>+</m:t>
                              </m:r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 </m:t>
                                  </m:r>
                                  <m:r>
                                    <a:rPr lang="en-US" i="1" dirty="0"/>
                                    <m:t>𝜂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/>
                                <m:t>𝜉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</m:t>
                                  </m:r>
                                  <m:r>
                                    <a:rPr lang="en-US" i="1" dirty="0"/>
                                    <m:t>𝜉</m:t>
                                  </m:r>
                                </m:sub>
                              </m:sSub>
                              <m:r>
                                <a:rPr lang="en-US" i="1" dirty="0"/>
                                <m:t>+</m:t>
                              </m:r>
                              <m:r>
                                <a:rPr lang="en-US" i="1" dirty="0"/>
                                <m:t>𝜂</m:t>
                              </m:r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,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  <m:r>
                                    <a:rPr lang="en-US" i="1" dirty="0"/>
                                    <m:t>,</m:t>
                                  </m:r>
                                  <m:r>
                                    <a:rPr lang="en-US" i="1" dirty="0"/>
                                    <m:t>𝜂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i="1" dirty="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𝑢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/>
                                  </m:ctrlPr>
                                </m:sSubPr>
                                <m:e>
                                  <m:r>
                                    <a:rPr lang="en-US" i="1" dirty="0"/>
                                    <m:t>𝑣</m:t>
                                  </m:r>
                                </m:e>
                                <m:sub>
                                  <m:r>
                                    <a:rPr lang="en-US" i="1" dirty="0"/>
                                    <m:t>𝑖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3D725A-FF2F-D7E6-0F86-CE9779BA8E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195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E95A-AFEA-000C-9C82-BD5A7F6A7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 Integration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9B9CB-EE8D-F3E1-F68A-567006A207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Python is capable of symbolic integration (slow)</a:t>
                </a:r>
              </a:p>
              <a:p>
                <a:r>
                  <a:rPr lang="en-US" dirty="0"/>
                  <a:t>Numerical integration preferred</a:t>
                </a:r>
              </a:p>
              <a:p>
                <a:r>
                  <a:rPr lang="en-US" dirty="0"/>
                  <a:t>Gauss Integration allows for integrals to be approximated with a summation of functions evaluated at integration points with weights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−1</m:t>
                        </m:r>
                      </m:sub>
                      <m:sup>
                        <m:r>
                          <a:rPr lang="en-US" i="1" dirty="0"/>
                          <m:t>1</m:t>
                        </m:r>
                      </m:sup>
                      <m:e>
                        <m:nary>
                          <m:naryPr>
                            <m:ctrlPr>
                              <a:rPr lang="en-US" i="1" dirty="0"/>
                            </m:ctrlPr>
                          </m:naryPr>
                          <m:sub>
                            <m:r>
                              <a:rPr lang="en-US" i="1" dirty="0"/>
                              <m:t>−1</m:t>
                            </m:r>
                          </m:sub>
                          <m:sup>
                            <m:r>
                              <a:rPr lang="en-US" i="1" dirty="0"/>
                              <m:t>1</m:t>
                            </m:r>
                          </m:sup>
                          <m:e>
                            <m:r>
                              <a:rPr lang="en-US" i="1" dirty="0"/>
                              <m:t>𝑓</m:t>
                            </m:r>
                            <m:d>
                              <m:dPr>
                                <m:ctrlPr>
                                  <a:rPr lang="en-US" i="1" dirty="0"/>
                                </m:ctrlPr>
                              </m:dPr>
                              <m:e>
                                <m:r>
                                  <a:rPr lang="en-US" i="1" dirty="0"/>
                                  <m:t>𝑥</m:t>
                                </m:r>
                                <m:r>
                                  <a:rPr lang="en-US" i="1" dirty="0"/>
                                  <m:t>,</m:t>
                                </m:r>
                                <m:r>
                                  <a:rPr lang="en-US" i="1" dirty="0"/>
                                  <m:t>𝑦</m:t>
                                </m:r>
                              </m:e>
                            </m:d>
                            <m:r>
                              <a:rPr lang="en-US" i="1" dirty="0"/>
                              <m:t>𝑑𝑥𝑑𝑦</m:t>
                            </m:r>
                          </m:e>
                        </m:nary>
                        <m:r>
                          <a:rPr lang="en-US" i="1" dirty="0"/>
                          <m:t>= </m:t>
                        </m:r>
                        <m:nary>
                          <m:naryPr>
                            <m:chr m:val="∑"/>
                            <m:ctrlPr>
                              <a:rPr lang="en-US" i="1" dirty="0"/>
                            </m:ctrlPr>
                          </m:naryPr>
                          <m:sub>
                            <m:r>
                              <a:rPr lang="en-US" i="1" dirty="0"/>
                              <m:t>𝑖</m:t>
                            </m:r>
                            <m:r>
                              <a:rPr lang="en-US" i="1" dirty="0"/>
                              <m:t>=1</m:t>
                            </m:r>
                          </m:sub>
                          <m:sup>
                            <m:r>
                              <a:rPr lang="en-US" i="1" dirty="0"/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i="1" dirty="0"/>
                                </m:ctrlPr>
                              </m:naryPr>
                              <m:sub>
                                <m:r>
                                  <a:rPr lang="en-US" i="1" dirty="0"/>
                                  <m:t>𝑗</m:t>
                                </m:r>
                                <m:r>
                                  <a:rPr lang="en-US" i="1" dirty="0"/>
                                  <m:t>=1</m:t>
                                </m:r>
                              </m:sub>
                              <m:sup>
                                <m:r>
                                  <a:rPr lang="en-US" i="1" dirty="0"/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 dirty="0"/>
                                    </m:ctrlPr>
                                  </m:sSubPr>
                                  <m:e>
                                    <m:r>
                                      <a:rPr lang="en-US" i="1" dirty="0"/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 dirty="0"/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 dirty="0"/>
                                    </m:ctrlPr>
                                  </m:sSubPr>
                                  <m:e>
                                    <m:r>
                                      <a:rPr lang="en-US" i="1" dirty="0"/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 dirty="0"/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 dirty="0"/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 dirty="0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/>
                                        </m:ctrlPr>
                                      </m:sSubPr>
                                      <m:e>
                                        <m:r>
                                          <a:rPr lang="en-US" i="1" dirty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 dirty="0"/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 dirty="0"/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i="1" dirty="0"/>
                                        </m:ctrlPr>
                                      </m:sSubPr>
                                      <m:e>
                                        <m:r>
                                          <a:rPr lang="en-US" i="1" dirty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 dirty="0"/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sSub>
                          <m:sSubPr>
                            <m:ctrlPr>
                              <a:rPr lang="en-US" i="1" dirty="0"/>
                            </m:ctrlPr>
                          </m:sSubPr>
                          <m:e>
                            <m:r>
                              <a:rPr lang="en-US" i="1" dirty="0"/>
                              <m:t>𝑘</m:t>
                            </m:r>
                          </m:e>
                          <m:sub>
                            <m:r>
                              <a:rPr lang="en-US" i="1" dirty="0"/>
                              <m:t>𝑒</m:t>
                            </m:r>
                          </m:sub>
                        </m:sSub>
                      </m:e>
                    </m:d>
                    <m:r>
                      <a:rPr lang="en-US" i="1" dirty="0"/>
                      <m:t>(</m:t>
                    </m:r>
                    <m:r>
                      <a:rPr lang="en-US" i="1" dirty="0"/>
                      <m:t>𝑥</m:t>
                    </m:r>
                    <m:r>
                      <a:rPr lang="en-US" i="1" dirty="0"/>
                      <m:t>, </m:t>
                    </m:r>
                    <m:r>
                      <a:rPr lang="en-US" i="1" dirty="0"/>
                      <m:t>𝑦</m:t>
                    </m:r>
                    <m:r>
                      <a:rPr lang="en-US" i="1" dirty="0"/>
                      <m:t>)=</m:t>
                    </m:r>
                    <m:r>
                      <a:rPr lang="en-US" i="1" dirty="0"/>
                      <m:t>𝑡</m:t>
                    </m:r>
                    <m:nary>
                      <m:naryPr>
                        <m:chr m:val="∑"/>
                        <m:ctrlPr>
                          <a:rPr lang="en-US" i="1" dirty="0"/>
                        </m:ctrlPr>
                      </m:naryPr>
                      <m:sub>
                        <m:r>
                          <a:rPr lang="en-US" i="1" dirty="0"/>
                          <m:t>𝑖</m:t>
                        </m:r>
                        <m:r>
                          <a:rPr lang="en-US" i="1" dirty="0"/>
                          <m:t>=1</m:t>
                        </m:r>
                      </m:sub>
                      <m:sup>
                        <m:r>
                          <a:rPr lang="en-US" i="1" dirty="0"/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i="1" dirty="0"/>
                            </m:ctrlPr>
                          </m:naryPr>
                          <m:sub>
                            <m:r>
                              <a:rPr lang="en-US" i="1" dirty="0"/>
                              <m:t>𝑗</m:t>
                            </m:r>
                            <m:r>
                              <a:rPr lang="en-US" i="1" dirty="0"/>
                              <m:t>=1</m:t>
                            </m:r>
                          </m:sub>
                          <m:sup>
                            <m:r>
                              <a:rPr lang="en-US" i="1" dirty="0"/>
                              <m:t>𝑛</m:t>
                            </m:r>
                          </m:sup>
                          <m:e>
                            <m:r>
                              <a:rPr lang="en-US" i="1" dirty="0"/>
                              <m:t>[</m:t>
                            </m:r>
                            <m:sSub>
                              <m:sSubPr>
                                <m:ctrlPr>
                                  <a:rPr lang="en-US" i="1" dirty="0"/>
                                </m:ctrlPr>
                              </m:sSubPr>
                              <m:e>
                                <m:r>
                                  <a:rPr lang="en-US" i="1" dirty="0"/>
                                  <m:t>𝑤</m:t>
                                </m:r>
                              </m:e>
                              <m:sub>
                                <m:r>
                                  <a:rPr lang="en-US" i="1" dirty="0"/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 dirty="0"/>
                                </m:ctrlPr>
                              </m:sSubPr>
                              <m:e>
                                <m:r>
                                  <a:rPr lang="en-US" i="1" dirty="0"/>
                                  <m:t>𝑤</m:t>
                                </m:r>
                              </m:e>
                              <m:sub>
                                <m:r>
                                  <a:rPr lang="en-US" i="1" dirty="0"/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  <m:sSup>
                      <m:sSupPr>
                        <m:ctrlPr>
                          <a:rPr lang="en-US" i="1" dirty="0"/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/>
                            </m:ctrlPr>
                          </m:dPr>
                          <m:e>
                            <m:r>
                              <a:rPr lang="en-US" i="1" dirty="0"/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i="1" dirty="0"/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𝐶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dirty="0"/>
                        </m:ctrlPr>
                      </m:dPr>
                      <m:e>
                        <m:r>
                          <a:rPr lang="en-US" i="1" dirty="0"/>
                          <m:t>𝐵</m:t>
                        </m:r>
                      </m:e>
                    </m:d>
                    <m:r>
                      <m:rPr>
                        <m:sty m:val="p"/>
                      </m:rPr>
                      <a:rPr lang="en-US" dirty="0"/>
                      <m:t>det</m:t>
                    </m:r>
                    <m:r>
                      <a:rPr lang="en-US" dirty="0"/>
                      <m:t>[ </m:t>
                    </m:r>
                    <m:r>
                      <m:rPr>
                        <m:sty m:val="p"/>
                      </m:rPr>
                      <a:rPr lang="en-US" dirty="0"/>
                      <m:t>J</m:t>
                    </m:r>
                    <m:r>
                      <a:rPr lang="en-US" dirty="0"/>
                      <m:t>] </m:t>
                    </m:r>
                    <m:r>
                      <a:rPr lang="en-US" i="1" dirty="0"/>
                      <m:t>𝑑</m:t>
                    </m:r>
                    <m:r>
                      <a:rPr lang="en-US" i="1" dirty="0"/>
                      <m:t>𝜉</m:t>
                    </m:r>
                    <m:r>
                      <a:rPr lang="en-US" i="1" dirty="0"/>
                      <m:t>𝑑</m:t>
                    </m:r>
                    <m:r>
                      <a:rPr lang="en-US" i="1" dirty="0"/>
                      <m:t>𝜂</m:t>
                    </m:r>
                    <m:r>
                      <a:rPr lang="en-US" i="1" dirty="0"/>
                      <m:t>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9B9CB-EE8D-F3E1-F68A-567006A207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152" t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994CA3D-F363-782E-DD1A-D9B092ED7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246" y="3767412"/>
            <a:ext cx="5965508" cy="246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27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8B57C-BA54-FB3D-612C-E3602DEA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CQUAD4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1F81B-B28A-76C0-F8C1-C3475AA42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Bilinear shape functions</a:t>
            </a:r>
          </a:p>
        </p:txBody>
      </p:sp>
      <p:pic>
        <p:nvPicPr>
          <p:cNvPr id="4" name="Picture 3" descr="A blue square with arrows and a black line&#10;&#10;AI-generated content may be incorrect.">
            <a:extLst>
              <a:ext uri="{FF2B5EF4-FFF2-40B4-BE49-F238E27FC236}">
                <a16:creationId xmlns:a16="http://schemas.microsoft.com/office/drawing/2014/main" id="{544A99F2-A75F-31A8-ACBE-81B83C9A1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" y="2547937"/>
            <a:ext cx="2400935" cy="2238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F21445-9212-47A8-F6D4-2FA7F04ED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287" y="2714625"/>
            <a:ext cx="717232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25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77223-A745-6870-78CA-3F8EFE3D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CQUAD8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932FE-E5C9-A6FE-77BE-DF483BCB2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quadratic Functions</a:t>
            </a:r>
          </a:p>
        </p:txBody>
      </p:sp>
      <p:pic>
        <p:nvPicPr>
          <p:cNvPr id="4" name="Picture 3" descr="A blue square with white circles and black arrows&#10;&#10;AI-generated content may be incorrect.">
            <a:extLst>
              <a:ext uri="{FF2B5EF4-FFF2-40B4-BE49-F238E27FC236}">
                <a16:creationId xmlns:a16="http://schemas.microsoft.com/office/drawing/2014/main" id="{EC622EB9-B9B5-F1A6-23F3-7D5967365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12" y="2403475"/>
            <a:ext cx="2092325" cy="2051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1E49A4-F599-841F-C7E1-5EBF4DE89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473" y="1685925"/>
            <a:ext cx="717232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11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A3F1-6FA3-7B32-5657-422978596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CQUAD7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81080-6EFB-D2FD-C869-F8E203F4D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interpolation between nodes 1 &amp; 4 consistent with CQ4</a:t>
            </a:r>
          </a:p>
        </p:txBody>
      </p:sp>
      <p:pic>
        <p:nvPicPr>
          <p:cNvPr id="4" name="Picture 3" descr="A blue square with black arrows and numbers&#10;&#10;AI-generated content may be incorrect.">
            <a:extLst>
              <a:ext uri="{FF2B5EF4-FFF2-40B4-BE49-F238E27FC236}">
                <a16:creationId xmlns:a16="http://schemas.microsoft.com/office/drawing/2014/main" id="{92426CF0-8409-74C4-8F3B-0A433B62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02" y="2235200"/>
            <a:ext cx="2538095" cy="2387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3DC141-F733-03B5-30BD-1E742D93B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812" y="1947862"/>
            <a:ext cx="72485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1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9E73-31FF-9273-5202-531EEA670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CQUAD6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8A954-418D-D022-1AE6-21C2C2D7C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interpolation between nodes 1&amp;4, 4&amp;3 consistent with CQ4</a:t>
            </a:r>
          </a:p>
        </p:txBody>
      </p:sp>
      <p:pic>
        <p:nvPicPr>
          <p:cNvPr id="4" name="Picture 3" descr="A blue square with black arrows and white circles&#10;&#10;AI-generated content may be incorrect.">
            <a:extLst>
              <a:ext uri="{FF2B5EF4-FFF2-40B4-BE49-F238E27FC236}">
                <a16:creationId xmlns:a16="http://schemas.microsoft.com/office/drawing/2014/main" id="{0F80AF80-4EDC-62A3-299C-5C9DFCAE8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75" y="2466022"/>
            <a:ext cx="1987550" cy="19259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5AEA63-18CF-0E2D-6564-B5C50B9FB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587" y="2232122"/>
            <a:ext cx="724852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07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408FD-73AD-D351-AB9C-555EB84F2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Solver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361CA-B161-349D-A46E-3A0ED8264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diagram of a blue square with a white circle in the center&#10;&#10;AI-generated content may be incorrect.">
            <a:extLst>
              <a:ext uri="{FF2B5EF4-FFF2-40B4-BE49-F238E27FC236}">
                <a16:creationId xmlns:a16="http://schemas.microsoft.com/office/drawing/2014/main" id="{D3395C52-D4BD-B15E-69F2-15B26562F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897" y="1475202"/>
            <a:ext cx="5151755" cy="4152265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194F4E3-BA84-59D4-CBE0-38AF749A5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7" y="1593360"/>
            <a:ext cx="6120440" cy="39159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6890CE4-7BA8-8A8B-C104-48A5B5BA3ABD}"/>
                  </a:ext>
                </a:extLst>
              </p:cNvPr>
              <p:cNvSpPr/>
              <p:nvPr/>
            </p:nvSpPr>
            <p:spPr>
              <a:xfrm>
                <a:off x="4038599" y="4422341"/>
                <a:ext cx="3476625" cy="18065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/>
                  <a:t>Elasticity Solution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𝜎</m:t>
                          </m:r>
                        </m:e>
                        <m:sub>
                          <m:r>
                            <a:rPr lang="en-US" i="1"/>
                            <m:t>𝑔𝑟𝑜𝑠𝑠</m:t>
                          </m:r>
                        </m:sub>
                      </m:sSub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1000 </m:t>
                          </m:r>
                          <m:r>
                            <a:rPr lang="en-US" i="1"/>
                            <m:t>𝑙𝑏𝑓</m:t>
                          </m:r>
                        </m:num>
                        <m:den>
                          <m:r>
                            <a:rPr lang="en-US" i="1"/>
                            <m:t>6</m:t>
                          </m:r>
                          <m:r>
                            <a:rPr lang="en-US" i="1"/>
                            <m:t>𝑖𝑛</m:t>
                          </m:r>
                          <m:r>
                            <a:rPr lang="en-US" i="1"/>
                            <m:t>∗0.25</m:t>
                          </m:r>
                          <m:r>
                            <a:rPr lang="en-US" i="1"/>
                            <m:t>𝑖𝑛</m:t>
                          </m:r>
                        </m:den>
                      </m:f>
                      <m:r>
                        <a:rPr lang="en-US" i="1"/>
                        <m:t>= 6.67 </m:t>
                      </m:r>
                      <m:r>
                        <a:rPr lang="en-US" i="1"/>
                        <m:t>𝑘𝑠𝑖</m:t>
                      </m:r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𝜎</m:t>
                          </m:r>
                        </m:e>
                        <m:sub>
                          <m:r>
                            <a:rPr lang="en-US" i="1"/>
                            <m:t>𝑚𝑎𝑥</m:t>
                          </m:r>
                        </m:sub>
                      </m:sSub>
                      <m:r>
                        <a:rPr lang="en-US" i="1"/>
                        <m:t>=20.086 </m:t>
                      </m:r>
                      <m:r>
                        <a:rPr lang="en-US" i="1"/>
                        <m:t>𝑘𝑠𝑖</m:t>
                      </m:r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𝐾𝑡</m:t>
                      </m:r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𝜎</m:t>
                              </m:r>
                            </m:e>
                            <m:sub>
                              <m:r>
                                <a:rPr lang="en-US" i="1"/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𝜎</m:t>
                              </m:r>
                            </m:e>
                            <m:sub>
                              <m:r>
                                <a:rPr lang="en-US" i="1"/>
                                <m:t>𝑔𝑟𝑜𝑠𝑠</m:t>
                              </m:r>
                            </m:sub>
                          </m:sSub>
                        </m:den>
                      </m:f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20.086</m:t>
                          </m:r>
                        </m:num>
                        <m:den>
                          <m:r>
                            <a:rPr lang="en-US" i="1"/>
                            <m:t>6.67</m:t>
                          </m:r>
                        </m:den>
                      </m:f>
                      <m:r>
                        <a:rPr lang="en-US" i="1"/>
                        <m:t>=3.01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6890CE4-7BA8-8A8B-C104-48A5B5BA3A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599" y="4422341"/>
                <a:ext cx="3476625" cy="18065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65A7635E-3C4E-DA17-0E20-D1BB39872DB0}"/>
              </a:ext>
            </a:extLst>
          </p:cNvPr>
          <p:cNvSpPr/>
          <p:nvPr/>
        </p:nvSpPr>
        <p:spPr>
          <a:xfrm>
            <a:off x="6806883" y="1898217"/>
            <a:ext cx="2070418" cy="1149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</a:t>
            </a:r>
          </a:p>
          <a:p>
            <a:pPr algn="ctr"/>
            <a:r>
              <a:rPr lang="en-US" dirty="0"/>
              <a:t>CQ4 = 20.373 </a:t>
            </a:r>
            <a:r>
              <a:rPr lang="en-US" dirty="0" err="1"/>
              <a:t>ksi</a:t>
            </a:r>
            <a:endParaRPr lang="en-US" dirty="0"/>
          </a:p>
          <a:p>
            <a:pPr algn="ctr"/>
            <a:r>
              <a:rPr lang="en-US" dirty="0"/>
              <a:t>CQ8/7 = 19.624 </a:t>
            </a:r>
            <a:r>
              <a:rPr lang="en-US" dirty="0" err="1"/>
              <a:t>ksi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38E4E01-2DC9-DDA6-4004-460153CE19D4}"/>
                  </a:ext>
                </a:extLst>
              </p:cNvPr>
              <p:cNvSpPr/>
              <p:nvPr/>
            </p:nvSpPr>
            <p:spPr>
              <a:xfrm>
                <a:off x="238132" y="1698136"/>
                <a:ext cx="2070418" cy="11497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FEMAP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=20.086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𝑘𝑠𝑖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38E4E01-2DC9-DDA6-4004-460153CE1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32" y="1698136"/>
                <a:ext cx="2070418" cy="11497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030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82F46-F448-EB96-4B9E-3E182EB7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Concentration Determination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E53B9-BA4E-6F9D-0BD2-BB4DC89C7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292217"/>
            <a:ext cx="10058400" cy="4635517"/>
          </a:xfrm>
        </p:spPr>
        <p:txBody>
          <a:bodyPr/>
          <a:lstStyle/>
          <a:p>
            <a:r>
              <a:rPr lang="en-US" dirty="0"/>
              <a:t>DFEM Setup</a:t>
            </a:r>
          </a:p>
        </p:txBody>
      </p:sp>
      <p:pic>
        <p:nvPicPr>
          <p:cNvPr id="5" name="Picture 4" descr="A white grid with red dots&#10;&#10;AI-generated content may be incorrect.">
            <a:extLst>
              <a:ext uri="{FF2B5EF4-FFF2-40B4-BE49-F238E27FC236}">
                <a16:creationId xmlns:a16="http://schemas.microsoft.com/office/drawing/2014/main" id="{F2987935-4196-4DBA-8378-C02FB4E4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1967247"/>
            <a:ext cx="6879459" cy="43078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 descr="A blueprint of a building&#10;&#10;AI-generated content may be incorrect.">
            <a:extLst>
              <a:ext uri="{FF2B5EF4-FFF2-40B4-BE49-F238E27FC236}">
                <a16:creationId xmlns:a16="http://schemas.microsoft.com/office/drawing/2014/main" id="{2C26268E-E5A4-0DCE-AF86-5D47EEB97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582" y="1397017"/>
            <a:ext cx="7740905" cy="18510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2E44B7-10CC-F10E-ECC4-DC4BCD2DD4EF}"/>
              </a:ext>
            </a:extLst>
          </p:cNvPr>
          <p:cNvSpPr/>
          <p:nvPr/>
        </p:nvSpPr>
        <p:spPr>
          <a:xfrm>
            <a:off x="7629525" y="5581650"/>
            <a:ext cx="2190750" cy="551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Free Nodes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D9FDEE-5975-CBA9-BC73-62BEDDD760E0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6238875" y="5229225"/>
            <a:ext cx="1390650" cy="62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918714-AF5A-BB3B-704D-56F610EEA9B0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6238875" y="4838700"/>
            <a:ext cx="1390650" cy="1018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98CAC3-1909-0414-278C-BAE0136E70B9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5934075" y="5448300"/>
            <a:ext cx="1695450" cy="409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713E48-7605-D452-F29A-4A9232476923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5372100" y="5448300"/>
            <a:ext cx="2257425" cy="409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040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951C-9E70-30E9-A429-55D78CF5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DFEM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B3BEF-4DFD-F0FC-895B-01DBEBAC7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close-up of a grid&#10;&#10;AI-generated content may be incorrect.">
            <a:extLst>
              <a:ext uri="{FF2B5EF4-FFF2-40B4-BE49-F238E27FC236}">
                <a16:creationId xmlns:a16="http://schemas.microsoft.com/office/drawing/2014/main" id="{E076ECB2-4868-1C12-ADCD-EBC68AE60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33576"/>
            <a:ext cx="10073334" cy="2081123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1FFF9FF-80C2-10AF-CAD0-9F7885B4E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79" y="3543302"/>
            <a:ext cx="10062051" cy="2081121"/>
          </a:xfrm>
          <a:prstGeom prst="rect">
            <a:avLst/>
          </a:prstGeom>
          <a:ln>
            <a:solidFill>
              <a:srgbClr val="EE0000"/>
            </a:solidFill>
          </a:ln>
        </p:spPr>
      </p:pic>
    </p:spTree>
    <p:extLst>
      <p:ext uri="{BB962C8B-B14F-4D97-AF65-F5344CB8AC3E}">
        <p14:creationId xmlns:p14="http://schemas.microsoft.com/office/powerpoint/2010/main" val="4204389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F5CE-BDDE-97DD-A0A9-4737D159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CQ4 Stress Convergence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530C48-3DB2-D264-1EF5-C0D0D19FC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0546557"/>
              </p:ext>
            </p:extLst>
          </p:nvPr>
        </p:nvGraphicFramePr>
        <p:xfrm>
          <a:off x="7038976" y="1550238"/>
          <a:ext cx="4991099" cy="33837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1298">
                  <a:extLst>
                    <a:ext uri="{9D8B030D-6E8A-4147-A177-3AD203B41FA5}">
                      <a16:colId xmlns:a16="http://schemas.microsoft.com/office/drawing/2014/main" val="3135834026"/>
                    </a:ext>
                  </a:extLst>
                </a:gridCol>
                <a:gridCol w="810448">
                  <a:extLst>
                    <a:ext uri="{9D8B030D-6E8A-4147-A177-3AD203B41FA5}">
                      <a16:colId xmlns:a16="http://schemas.microsoft.com/office/drawing/2014/main" val="1978377003"/>
                    </a:ext>
                  </a:extLst>
                </a:gridCol>
                <a:gridCol w="809597">
                  <a:extLst>
                    <a:ext uri="{9D8B030D-6E8A-4147-A177-3AD203B41FA5}">
                      <a16:colId xmlns:a16="http://schemas.microsoft.com/office/drawing/2014/main" val="2958248818"/>
                    </a:ext>
                  </a:extLst>
                </a:gridCol>
                <a:gridCol w="809597">
                  <a:extLst>
                    <a:ext uri="{9D8B030D-6E8A-4147-A177-3AD203B41FA5}">
                      <a16:colId xmlns:a16="http://schemas.microsoft.com/office/drawing/2014/main" val="721689791"/>
                    </a:ext>
                  </a:extLst>
                </a:gridCol>
                <a:gridCol w="809597">
                  <a:extLst>
                    <a:ext uri="{9D8B030D-6E8A-4147-A177-3AD203B41FA5}">
                      <a16:colId xmlns:a16="http://schemas.microsoft.com/office/drawing/2014/main" val="15265111"/>
                    </a:ext>
                  </a:extLst>
                </a:gridCol>
                <a:gridCol w="940562">
                  <a:extLst>
                    <a:ext uri="{9D8B030D-6E8A-4147-A177-3AD203B41FA5}">
                      <a16:colId xmlns:a16="http://schemas.microsoft.com/office/drawing/2014/main" val="278104699"/>
                    </a:ext>
                  </a:extLst>
                </a:gridCol>
              </a:tblGrid>
              <a:tr h="5647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Model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Element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NID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S_max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S_min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% Difference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231947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CQ4_4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4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10456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1468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2170216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CQ4_7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493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547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11103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2361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5.8%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3976942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CQ4_10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969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960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11128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1966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0.2%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25179737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CQ4_13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1544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1468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11191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2280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0.6%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8784308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CQ4_16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2161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2021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11254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1835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0.6%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5969458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CQ4_18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3740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3429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11270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1863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0.1%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5613794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CQ4_22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11701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9515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11300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1533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0.3%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095357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CQ4_28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13941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13338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11287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1565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-0.1%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6195997"/>
                  </a:ext>
                </a:extLst>
              </a:tr>
            </a:tbl>
          </a:graphicData>
        </a:graphic>
      </p:graphicFrame>
      <p:pic>
        <p:nvPicPr>
          <p:cNvPr id="4" name="Picture 3" descr="A graph of a stress convergence&#10;&#10;AI-generated content may be incorrect.">
            <a:extLst>
              <a:ext uri="{FF2B5EF4-FFF2-40B4-BE49-F238E27FC236}">
                <a16:creationId xmlns:a16="http://schemas.microsoft.com/office/drawing/2014/main" id="{8A02D22A-0F99-8C45-2D83-AC3E3CB3A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1550238"/>
            <a:ext cx="6537454" cy="375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52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40875-CAEF-99EC-1549-DE07CB75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CQ8 Stress Convergence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93373B-6FE7-F90A-106E-DAD70B36F5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2195820"/>
              </p:ext>
            </p:extLst>
          </p:nvPr>
        </p:nvGraphicFramePr>
        <p:xfrm>
          <a:off x="6810375" y="1626437"/>
          <a:ext cx="5194936" cy="35265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4863">
                  <a:extLst>
                    <a:ext uri="{9D8B030D-6E8A-4147-A177-3AD203B41FA5}">
                      <a16:colId xmlns:a16="http://schemas.microsoft.com/office/drawing/2014/main" val="1800173848"/>
                    </a:ext>
                  </a:extLst>
                </a:gridCol>
                <a:gridCol w="843978">
                  <a:extLst>
                    <a:ext uri="{9D8B030D-6E8A-4147-A177-3AD203B41FA5}">
                      <a16:colId xmlns:a16="http://schemas.microsoft.com/office/drawing/2014/main" val="2370068621"/>
                    </a:ext>
                  </a:extLst>
                </a:gridCol>
                <a:gridCol w="843978">
                  <a:extLst>
                    <a:ext uri="{9D8B030D-6E8A-4147-A177-3AD203B41FA5}">
                      <a16:colId xmlns:a16="http://schemas.microsoft.com/office/drawing/2014/main" val="605767325"/>
                    </a:ext>
                  </a:extLst>
                </a:gridCol>
                <a:gridCol w="843978">
                  <a:extLst>
                    <a:ext uri="{9D8B030D-6E8A-4147-A177-3AD203B41FA5}">
                      <a16:colId xmlns:a16="http://schemas.microsoft.com/office/drawing/2014/main" val="788610164"/>
                    </a:ext>
                  </a:extLst>
                </a:gridCol>
                <a:gridCol w="843978">
                  <a:extLst>
                    <a:ext uri="{9D8B030D-6E8A-4147-A177-3AD203B41FA5}">
                      <a16:colId xmlns:a16="http://schemas.microsoft.com/office/drawing/2014/main" val="315589458"/>
                    </a:ext>
                  </a:extLst>
                </a:gridCol>
                <a:gridCol w="974161">
                  <a:extLst>
                    <a:ext uri="{9D8B030D-6E8A-4147-A177-3AD203B41FA5}">
                      <a16:colId xmlns:a16="http://schemas.microsoft.com/office/drawing/2014/main" val="1657389788"/>
                    </a:ext>
                  </a:extLst>
                </a:gridCol>
              </a:tblGrid>
              <a:tr h="58858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Model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Element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NID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S_max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S_min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% Difference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9224270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CQ8_4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999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10536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1695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03130612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CQ8_7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1481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547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10738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1066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1.9%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7193612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CQ8_10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2146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961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10661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1257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-0.7%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9280032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CQ8_13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2754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1468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10676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945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0.1%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7441065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CQ8_16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3718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2021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10744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626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0.6%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3775362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CQ8_18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4875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3429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10819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780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0.7%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336353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CQ8_22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9851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9515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10853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544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0.3%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3559909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CQ8_28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11966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14589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11483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2381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5.5%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6650673"/>
                  </a:ext>
                </a:extLst>
              </a:tr>
            </a:tbl>
          </a:graphicData>
        </a:graphic>
      </p:graphicFrame>
      <p:pic>
        <p:nvPicPr>
          <p:cNvPr id="4" name="Picture 3" descr="A graph of a stress convergence&#10;&#10;AI-generated content may be incorrect.">
            <a:extLst>
              <a:ext uri="{FF2B5EF4-FFF2-40B4-BE49-F238E27FC236}">
                <a16:creationId xmlns:a16="http://schemas.microsoft.com/office/drawing/2014/main" id="{41A80655-B1AD-3B65-54C1-3FF88777F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1626437"/>
            <a:ext cx="6538604" cy="375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700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37A4-6C96-9E36-81F9-2999B75D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Plot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B4301-C69C-CB5C-5B71-1F413A13C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D4D6E3D0-DD73-C44F-020C-9DD9C34E7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49" y="1233576"/>
            <a:ext cx="6251235" cy="24136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FC1D7E-40EB-767F-0EC6-7A4E91662059}"/>
              </a:ext>
            </a:extLst>
          </p:cNvPr>
          <p:cNvSpPr/>
          <p:nvPr/>
        </p:nvSpPr>
        <p:spPr>
          <a:xfrm>
            <a:off x="1571625" y="1952625"/>
            <a:ext cx="2438400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CQ4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7CEC6-5D5C-450E-A019-968E769E564C}"/>
              </a:ext>
            </a:extLst>
          </p:cNvPr>
          <p:cNvSpPr/>
          <p:nvPr/>
        </p:nvSpPr>
        <p:spPr>
          <a:xfrm>
            <a:off x="1571625" y="4410075"/>
            <a:ext cx="2438400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CQ8/7/6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74A5E6-3116-890A-315A-D127A022A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49" y="3762994"/>
            <a:ext cx="6264667" cy="22527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93071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AD4BA-23CD-ADD0-542C-E996C871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Concentration Conclusions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C13951-22CE-5EBB-E2CD-7E8999F287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CQ4 mesh converged at a maximum principal stress of 11.270 </a:t>
                </a:r>
                <a:r>
                  <a:rPr lang="en-US" dirty="0" err="1"/>
                  <a:t>ksi</a:t>
                </a:r>
                <a:r>
                  <a:rPr lang="en-US" dirty="0"/>
                  <a:t> (CQ4_18)</a:t>
                </a:r>
              </a:p>
              <a:p>
                <a:r>
                  <a:rPr lang="en-US" dirty="0"/>
                  <a:t>CQ8-based models did not converge, even after additional refinement beyond the CQ4 convergence point</a:t>
                </a:r>
              </a:p>
              <a:p>
                <a:r>
                  <a:rPr lang="en-US" dirty="0"/>
                  <a:t>Using the converged value: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/>
                      <m:t>𝐾𝑡</m:t>
                    </m:r>
                    <m:r>
                      <a:rPr lang="en-US" i="1" dirty="0"/>
                      <m:t>=</m:t>
                    </m:r>
                    <m:f>
                      <m:fPr>
                        <m:ctrlPr>
                          <a:rPr lang="en-US" i="1" dirty="0"/>
                        </m:ctrlPr>
                      </m:fPr>
                      <m:num>
                        <m:sSub>
                          <m:sSubPr>
                            <m:ctrlPr>
                              <a:rPr lang="en-US" i="1" dirty="0"/>
                            </m:ctrlPr>
                          </m:sSubPr>
                          <m:e>
                            <m:r>
                              <a:rPr lang="en-US" i="1" dirty="0"/>
                              <m:t>𝜎</m:t>
                            </m:r>
                          </m:e>
                          <m:sub>
                            <m:r>
                              <a:rPr lang="en-US" i="1" dirty="0"/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/>
                            </m:ctrlPr>
                          </m:sSubPr>
                          <m:e>
                            <m:r>
                              <a:rPr lang="en-US" i="1" dirty="0"/>
                              <m:t>𝜎</m:t>
                            </m:r>
                          </m:e>
                          <m:sub>
                            <m:r>
                              <a:rPr lang="en-US" i="1" dirty="0"/>
                              <m:t>𝑔𝑟𝑜𝑠𝑠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/>
                        </m:ctrlPr>
                      </m:sSubPr>
                      <m:e>
                        <m:r>
                          <a:rPr lang="en-US" i="1" dirty="0"/>
                          <m:t>𝜎</m:t>
                        </m:r>
                      </m:e>
                      <m:sub>
                        <m:r>
                          <a:rPr lang="en-US" i="1" dirty="0"/>
                          <m:t>𝑔𝑟𝑜𝑠𝑠</m:t>
                        </m:r>
                      </m:sub>
                    </m:sSub>
                    <m:r>
                      <a:rPr lang="en-US" i="1" dirty="0"/>
                      <m:t>=</m:t>
                    </m:r>
                    <m:f>
                      <m:fPr>
                        <m:ctrlPr>
                          <a:rPr lang="en-US" i="1" dirty="0"/>
                        </m:ctrlPr>
                      </m:fPr>
                      <m:num>
                        <m:r>
                          <a:rPr lang="en-US" i="1" dirty="0"/>
                          <m:t>𝑃</m:t>
                        </m:r>
                      </m:num>
                      <m:den>
                        <m:r>
                          <a:rPr lang="en-US" i="1" dirty="0"/>
                          <m:t>𝐴</m:t>
                        </m:r>
                      </m:den>
                    </m:f>
                    <m:r>
                      <a:rPr lang="en-US" i="1" dirty="0"/>
                      <m:t>=</m:t>
                    </m:r>
                    <m:f>
                      <m:fPr>
                        <m:ctrlPr>
                          <a:rPr lang="en-US" i="1" dirty="0"/>
                        </m:ctrlPr>
                      </m:fPr>
                      <m:num>
                        <m:r>
                          <a:rPr lang="en-US" i="1" dirty="0"/>
                          <m:t>1000</m:t>
                        </m:r>
                      </m:num>
                      <m:den>
                        <m:d>
                          <m:dPr>
                            <m:ctrlPr>
                              <a:rPr lang="en-US" i="1" dirty="0"/>
                            </m:ctrlPr>
                          </m:dPr>
                          <m:e>
                            <m:r>
                              <a:rPr lang="en-US" i="1" dirty="0"/>
                              <m:t>0.75∗0.25</m:t>
                            </m:r>
                          </m:e>
                        </m:d>
                      </m:den>
                    </m:f>
                    <m:r>
                      <a:rPr lang="en-US" i="1" dirty="0"/>
                      <m:t>=5333 </m:t>
                    </m:r>
                    <m:r>
                      <a:rPr lang="en-US" i="1" dirty="0"/>
                      <m:t>𝑝𝑠𝑖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/>
                      <m:t>𝐾𝑡</m:t>
                    </m:r>
                    <m:r>
                      <a:rPr lang="en-US" i="1" dirty="0"/>
                      <m:t>=</m:t>
                    </m:r>
                    <m:f>
                      <m:fPr>
                        <m:ctrlPr>
                          <a:rPr lang="en-US" i="1" dirty="0"/>
                        </m:ctrlPr>
                      </m:fPr>
                      <m:num>
                        <m:r>
                          <a:rPr lang="en-US" i="1" dirty="0"/>
                          <m:t>11.270</m:t>
                        </m:r>
                      </m:num>
                      <m:den>
                        <m:r>
                          <a:rPr lang="en-US" i="1" dirty="0"/>
                          <m:t>5.333</m:t>
                        </m:r>
                      </m:den>
                    </m:f>
                    <m:r>
                      <a:rPr lang="en-US" i="1" dirty="0"/>
                      <m:t>=2.11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Perterson’s</a:t>
                </a:r>
                <a:r>
                  <a:rPr lang="en-US" dirty="0"/>
                  <a:t> kt approximation</a:t>
                </a:r>
              </a:p>
              <a:p>
                <a:pPr lvl="1"/>
                <a:r>
                  <a:rPr lang="en-US" dirty="0"/>
                  <a:t>Kt = 1.82-2.6</a:t>
                </a:r>
              </a:p>
              <a:p>
                <a:pPr lvl="1"/>
                <a:r>
                  <a:rPr lang="en-US" dirty="0"/>
                  <a:t>Actual Kt 16% more than the non-conservative assumption</a:t>
                </a:r>
              </a:p>
              <a:p>
                <a:pPr lvl="1"/>
                <a:r>
                  <a:rPr lang="en-US" dirty="0"/>
                  <a:t>Actual Kt 81% less than the conservative assumption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C13951-22CE-5EBB-E2CD-7E8999F28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3" t="-1183" r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336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77D9-EBC2-6FB4-F95A-C6E09A68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A4360-F92F-FD46-C5B6-F6C20F671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Python FEM solver accurately computed displacements, strains, and stresses for CTRIA3, CQUAD4, CQUAD8, and transition CQUAD6/7 elements</a:t>
            </a:r>
          </a:p>
          <a:p>
            <a:r>
              <a:rPr lang="en-US" dirty="0"/>
              <a:t>CQ4 meshes converged reliably, while CQ8 meshes failed to converge, likely due to transition-zone distortion and abrupt mesh-quality changes</a:t>
            </a:r>
          </a:p>
          <a:p>
            <a:r>
              <a:rPr lang="en-US" dirty="0"/>
              <a:t>CQ8 elements introduced extra DOFs and computational cost without improving accuracy or convergence speed</a:t>
            </a:r>
          </a:p>
          <a:p>
            <a:r>
              <a:rPr lang="en-US" dirty="0"/>
              <a:t>Transition regions (CQ6/CQ7) caused stress peaking and distortion, reducing CQ8 effectiveness</a:t>
            </a:r>
          </a:p>
          <a:p>
            <a:r>
              <a:rPr lang="en-US" dirty="0"/>
              <a:t>Recommendation: use CQ4 refinement; CQ8 with transition elements do not offer a practical advantage</a:t>
            </a:r>
          </a:p>
        </p:txBody>
      </p:sp>
    </p:spTree>
    <p:extLst>
      <p:ext uri="{BB962C8B-B14F-4D97-AF65-F5344CB8AC3E}">
        <p14:creationId xmlns:p14="http://schemas.microsoft.com/office/powerpoint/2010/main" val="3082233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4686</TotalTime>
  <Words>1344</Words>
  <Application>Microsoft Office PowerPoint</Application>
  <PresentationFormat>Widescreen</PresentationFormat>
  <Paragraphs>296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Calibri</vt:lpstr>
      <vt:lpstr>Calibri Light</vt:lpstr>
      <vt:lpstr>Cambria</vt:lpstr>
      <vt:lpstr>Cambria Math</vt:lpstr>
      <vt:lpstr>Retrospect</vt:lpstr>
      <vt:lpstr>MS Directed Project </vt:lpstr>
      <vt:lpstr>Abstract</vt:lpstr>
      <vt:lpstr>LEFM Use Case</vt:lpstr>
      <vt:lpstr>Vertical Frame Edge Crack Ex.</vt:lpstr>
      <vt:lpstr>Kt Determination</vt:lpstr>
      <vt:lpstr>Finite Element Method</vt:lpstr>
      <vt:lpstr>Solver Derivation</vt:lpstr>
      <vt:lpstr>Constitutive Equations</vt:lpstr>
      <vt:lpstr>Kinematic Equations</vt:lpstr>
      <vt:lpstr>Virtual Work</vt:lpstr>
      <vt:lpstr>Natural Coordinate System</vt:lpstr>
      <vt:lpstr>Stiffness / B Matrix Derivation</vt:lpstr>
      <vt:lpstr>B Matrix Derivation Continued</vt:lpstr>
      <vt:lpstr>Gauss Integration</vt:lpstr>
      <vt:lpstr>CQUAD4</vt:lpstr>
      <vt:lpstr>CQUAD8</vt:lpstr>
      <vt:lpstr>CQUAD7</vt:lpstr>
      <vt:lpstr>CQUAD6</vt:lpstr>
      <vt:lpstr>Python Solver Validation</vt:lpstr>
      <vt:lpstr>Stress Concentration Determination</vt:lpstr>
      <vt:lpstr>DFEM Refinement</vt:lpstr>
      <vt:lpstr>CQ4 Stress Convergence</vt:lpstr>
      <vt:lpstr>CQ8 Stress Convergence</vt:lpstr>
      <vt:lpstr>Stress Plot Comparison</vt:lpstr>
      <vt:lpstr>Stress Concentration Conclusions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Mirkovich</dc:creator>
  <cp:lastModifiedBy>Chad Mirkovich</cp:lastModifiedBy>
  <cp:revision>12</cp:revision>
  <dcterms:created xsi:type="dcterms:W3CDTF">2025-11-28T22:16:12Z</dcterms:created>
  <dcterms:modified xsi:type="dcterms:W3CDTF">2025-12-02T04:23:09Z</dcterms:modified>
</cp:coreProperties>
</file>